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2840"/>
        </a:solidFill>
        <a:effectLst/>
      </p:bgPr>
    </p:bg>
    <p:spTree>
      <p:nvGrpSpPr>
        <p:cNvPr id="1" name=""/>
        <p:cNvGrpSpPr/>
        <p:nvPr/>
      </p:nvGrpSpPr>
      <p:grpSpPr/>
      <p:sp>
        <p:nvSpPr>
          <p:cNvPr id="2" name="TextBox 1"/>
          <p:cNvSpPr txBox="1"/>
          <p:nvPr/>
        </p:nvSpPr>
        <p:spPr>
          <a:xfrm>
            <a:off x="822960" y="2286000"/>
            <a:ext cx="10515600" cy="457200"/>
          </a:xfrm>
          <a:prstGeom prst="rect">
            <a:avLst/>
          </a:prstGeom>
          <a:noFill/>
        </p:spPr>
        <p:txBody>
          <a:bodyPr wrap="square" anchor="t">
            <a:spAutoFit/>
          </a:bodyPr>
          <a:lstStyle/>
          <a:p>
            <a:pPr algn="l">
              <a:lnSpc>
                <a:spcPct val="100000"/>
              </a:lnSpc>
            </a:pPr>
            <a:r>
              <a:rPr sz="1600" b="1" i="0">
                <a:solidFill>
                  <a:srgbClr val="C9B06A"/>
                </a:solidFill>
                <a:latin typeface="Helvetica Neue"/>
              </a:rPr>
              <a:t>INTRODUCTION TO TANGIBLE USER INTERFACES</a:t>
            </a:r>
          </a:p>
        </p:txBody>
      </p:sp>
      <p:sp>
        <p:nvSpPr>
          <p:cNvPr id="3" name="TextBox 2"/>
          <p:cNvSpPr txBox="1"/>
          <p:nvPr/>
        </p:nvSpPr>
        <p:spPr>
          <a:xfrm>
            <a:off x="777240" y="2743200"/>
            <a:ext cx="10515600" cy="1463040"/>
          </a:xfrm>
          <a:prstGeom prst="rect">
            <a:avLst/>
          </a:prstGeom>
          <a:noFill/>
        </p:spPr>
        <p:txBody>
          <a:bodyPr wrap="square" anchor="t">
            <a:spAutoFit/>
          </a:bodyPr>
          <a:lstStyle/>
          <a:p>
            <a:pPr algn="l">
              <a:lnSpc>
                <a:spcPct val="100000"/>
              </a:lnSpc>
            </a:pPr>
            <a:r>
              <a:rPr sz="4800" b="0" i="0">
                <a:solidFill>
                  <a:srgbClr val="F2EDE2"/>
                </a:solidFill>
                <a:latin typeface="Georgia"/>
              </a:rPr>
              <a:t>Principles and Methods</a:t>
            </a:r>
          </a:p>
        </p:txBody>
      </p:sp>
      <p:sp>
        <p:nvSpPr>
          <p:cNvPr id="4" name="TextBox 3"/>
          <p:cNvSpPr txBox="1"/>
          <p:nvPr/>
        </p:nvSpPr>
        <p:spPr>
          <a:xfrm>
            <a:off x="822960" y="4114800"/>
            <a:ext cx="10058400" cy="457200"/>
          </a:xfrm>
          <a:prstGeom prst="rect">
            <a:avLst/>
          </a:prstGeom>
          <a:noFill/>
        </p:spPr>
        <p:txBody>
          <a:bodyPr wrap="square" anchor="t">
            <a:spAutoFit/>
          </a:bodyPr>
          <a:lstStyle/>
          <a:p>
            <a:pPr algn="l">
              <a:lnSpc>
                <a:spcPct val="100000"/>
              </a:lnSpc>
            </a:pPr>
            <a:r>
              <a:rPr sz="1800" b="0" i="1">
                <a:solidFill>
                  <a:srgbClr val="C9DCE9"/>
                </a:solidFill>
                <a:latin typeface="Georgia"/>
              </a:rPr>
              <a:t>A foundational overview of tangible interaction design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82840"/>
        </a:solidFill>
        <a:effectLst/>
      </p:bgPr>
    </p:bg>
    <p:spTree>
      <p:nvGrpSpPr>
        <p:cNvPr id="1" name=""/>
        <p:cNvGrpSpPr/>
        <p:nvPr/>
      </p:nvGrpSpPr>
      <p:grpSpPr/>
      <p:sp>
        <p:nvSpPr>
          <p:cNvPr id="2" name="TextBox 1"/>
          <p:cNvSpPr txBox="1"/>
          <p:nvPr/>
        </p:nvSpPr>
        <p:spPr>
          <a:xfrm>
            <a:off x="822960" y="2834640"/>
            <a:ext cx="10515600" cy="1280160"/>
          </a:xfrm>
          <a:prstGeom prst="rect">
            <a:avLst/>
          </a:prstGeom>
          <a:noFill/>
        </p:spPr>
        <p:txBody>
          <a:bodyPr wrap="square" anchor="t">
            <a:spAutoFit/>
          </a:bodyPr>
          <a:lstStyle/>
          <a:p>
            <a:pPr algn="l">
              <a:lnSpc>
                <a:spcPct val="100000"/>
              </a:lnSpc>
            </a:pPr>
            <a:r>
              <a:rPr sz="4000" b="0" i="0">
                <a:solidFill>
                  <a:srgbClr val="F2EDE2"/>
                </a:solidFill>
                <a:latin typeface="Georgia"/>
              </a:rPr>
              <a:t>What Is a Tangible User Interface?</a:t>
            </a:r>
          </a:p>
        </p:txBody>
      </p:sp>
      <p:sp>
        <p:nvSpPr>
          <p:cNvPr id="3" name="TextBox 2"/>
          <p:cNvSpPr txBox="1"/>
          <p:nvPr/>
        </p:nvSpPr>
        <p:spPr>
          <a:xfrm>
            <a:off x="822960" y="3840480"/>
            <a:ext cx="9601200" cy="914400"/>
          </a:xfrm>
          <a:prstGeom prst="rect">
            <a:avLst/>
          </a:prstGeom>
          <a:noFill/>
        </p:spPr>
        <p:txBody>
          <a:bodyPr wrap="square" anchor="t">
            <a:spAutoFit/>
          </a:bodyPr>
          <a:lstStyle/>
          <a:p>
            <a:pPr algn="l">
              <a:lnSpc>
                <a:spcPct val="100000"/>
              </a:lnSpc>
            </a:pPr>
            <a:r>
              <a:rPr sz="1600" b="0" i="1">
                <a:solidFill>
                  <a:srgbClr val="C9DCE9"/>
                </a:solidFill>
                <a:latin typeface="Georgia"/>
              </a:rPr>
              <a:t>Origins, definitions, and distinguishing characteristics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UNDERSTANDING TUI</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WORKING DEFINITION</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Tangible User Interface</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A tangible user interface (TUI) is an interaction paradigm in which digital information and computation are represented and manipulated through physical objects, surfaces, and spaces, rather than exclusively through graphical elements on a screen. Input and output are coupled to physical form: the object a user manipulates is also, in part, the display of system state.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UNDERSTANDING TUI</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HISTORICAL CONTEXT</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From Graphical to Tangible Interfaces</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The tangible interaction paradigm was formally proposed by Hiroshi Ishii and Brygg Ullmer at the MIT Media Lab in their 1997 paper “Tangible Bits,” presented at CHI 1997. The paper argued that graphical user interfaces (GUIs) confine interaction to pixels on a screen, leaving the rich sensory and motor capabilities the human body has for manipulating physical objects largely unused. Tangible Bits proposed coupling digital information to physical artifacts and architectural surfaces to make digital information directly graspable.</a:t>
            </a:r>
          </a:p>
        </p:txBody>
      </p:sp>
      <p:sp>
        <p:nvSpPr>
          <p:cNvPr id="7" name="TextBox 6"/>
          <p:cNvSpPr txBox="1"/>
          <p:nvPr/>
        </p:nvSpPr>
        <p:spPr>
          <a:xfrm>
            <a:off x="548640" y="6126480"/>
            <a:ext cx="8229600" cy="365760"/>
          </a:xfrm>
          <a:prstGeom prst="rect">
            <a:avLst/>
          </a:prstGeom>
          <a:noFill/>
        </p:spPr>
        <p:txBody>
          <a:bodyPr wrap="square" anchor="t">
            <a:spAutoFit/>
          </a:bodyPr>
          <a:lstStyle/>
          <a:p>
            <a:pPr algn="l">
              <a:lnSpc>
                <a:spcPct val="100000"/>
              </a:lnSpc>
            </a:pPr>
            <a:r>
              <a:rPr sz="1200" b="0" i="1">
                <a:solidFill>
                  <a:srgbClr val="1F3350"/>
                </a:solidFill>
                <a:latin typeface="Helvetica Neue"/>
              </a:rPr>
              <a:t>Source: Ishii, H. &amp; Ullmer, B. (1997). Tangible Bits. Proceedings of CHI '97.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EXTENDING THE FRAMEWORK</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Radical Atoms</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Ishii later extended Tangible Bits with the concept of Radical Atoms: a speculative vision in which physical materials themselves could dynamically change shape and property to directly reflect underlying digital information, rather than merely representing it through fixed physical tokens. Radical Atoms functions as an internal critique of Tangible Bits: it acknowledges that first-generation tangible interfaces still separate the physical token from the digital state it represents, and proposes materials that unify the two.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UNDERSTANDING TUI</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TUI Compared to Zero UI</a:t>
            </a:r>
          </a:p>
        </p:txBody>
      </p:sp>
      <p:sp>
        <p:nvSpPr>
          <p:cNvPr id="5" name="Rectangle 4"/>
          <p:cNvSpPr/>
          <p:nvPr/>
        </p:nvSpPr>
        <p:spPr>
          <a:xfrm>
            <a:off x="54864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440" y="2011680"/>
            <a:ext cx="499872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TANGIBLE USER INTERFACE</a:t>
            </a:r>
          </a:p>
        </p:txBody>
      </p:sp>
      <p:sp>
        <p:nvSpPr>
          <p:cNvPr id="7" name="TextBox 6"/>
          <p:cNvSpPr txBox="1"/>
          <p:nvPr/>
        </p:nvSpPr>
        <p:spPr>
          <a:xfrm>
            <a:off x="726440" y="2514600"/>
            <a:ext cx="4998720" cy="2743200"/>
          </a:xfrm>
          <a:prstGeom prst="rect">
            <a:avLst/>
          </a:prstGeom>
          <a:noFill/>
        </p:spPr>
        <p:txBody>
          <a:bodyPr wrap="square" anchor="t">
            <a:spAutoFit/>
          </a:bodyPr>
          <a:lstStyle/>
          <a:p>
            <a:pPr algn="l">
              <a:lnSpc>
                <a:spcPct val="120000"/>
              </a:lnSpc>
            </a:pPr>
            <a:r>
              <a:rPr sz="1350" b="0" i="0">
                <a:solidFill>
                  <a:srgbClr val="2A384A"/>
                </a:solidFill>
                <a:latin typeface="Georgia"/>
              </a:rPr>
              <a:t>Interaction is mediated by a physical object that the user directly manipulates. The object's form, position, or state is both the input mechanism and part of the output display.</a:t>
            </a:r>
          </a:p>
        </p:txBody>
      </p:sp>
      <p:sp>
        <p:nvSpPr>
          <p:cNvPr id="8" name="Rectangle 7"/>
          <p:cNvSpPr/>
          <p:nvPr/>
        </p:nvSpPr>
        <p:spPr>
          <a:xfrm>
            <a:off x="585216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29960" y="2011680"/>
            <a:ext cx="499872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ZERO UI</a:t>
            </a:r>
          </a:p>
        </p:txBody>
      </p:sp>
      <p:sp>
        <p:nvSpPr>
          <p:cNvPr id="10" name="TextBox 9"/>
          <p:cNvSpPr txBox="1"/>
          <p:nvPr/>
        </p:nvSpPr>
        <p:spPr>
          <a:xfrm>
            <a:off x="6029960" y="2514600"/>
            <a:ext cx="4998720" cy="2743200"/>
          </a:xfrm>
          <a:prstGeom prst="rect">
            <a:avLst/>
          </a:prstGeom>
          <a:noFill/>
        </p:spPr>
        <p:txBody>
          <a:bodyPr wrap="square" anchor="t">
            <a:spAutoFit/>
          </a:bodyPr>
          <a:lstStyle/>
          <a:p>
            <a:pPr algn="l">
              <a:lnSpc>
                <a:spcPct val="120000"/>
              </a:lnSpc>
            </a:pPr>
            <a:r>
              <a:rPr sz="1350" b="0" i="0">
                <a:solidFill>
                  <a:srgbClr val="2A384A"/>
                </a:solidFill>
                <a:latin typeface="Georgia"/>
              </a:rPr>
              <a:t>Interaction occurs through voice, gesture, or ambient sensing, with no persistent physical or graphical interface element for the user to hold or manipulate. Zero UI removes the interface object; TUI relocates it into physical form.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UNDERSTANDING TUI</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SCOPE</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Where TUI Sits Within Interaction Design</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Tangible user interfaces are a subset of the broader category of physical and embodied interaction. Not every physical interface is tangible in the technical sense used here: the defining property of a TUI is that physical manipulation of an object is coupled to a corresponding change in digital state, and that coupling is perceivable without consulting a separate screen. A dial that only sends a signal to an app, with no directly perceivable physical or output change, does not meet this definition on its 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UNDERSTANDING TUI</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Benefits of Tangible Interfaces</a:t>
            </a:r>
          </a:p>
        </p:txBody>
      </p:sp>
      <p:sp>
        <p:nvSpPr>
          <p:cNvPr id="5" name="Rectangle 4"/>
          <p:cNvSpPr/>
          <p:nvPr/>
        </p:nvSpPr>
        <p:spPr>
          <a:xfrm>
            <a:off x="54864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440" y="2011680"/>
            <a:ext cx="234696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DIRECTNESS</a:t>
            </a:r>
          </a:p>
        </p:txBody>
      </p:sp>
      <p:sp>
        <p:nvSpPr>
          <p:cNvPr id="7" name="TextBox 6"/>
          <p:cNvSpPr txBox="1"/>
          <p:nvPr/>
        </p:nvSpPr>
        <p:spPr>
          <a:xfrm>
            <a:off x="726440" y="2514600"/>
            <a:ext cx="2346960" cy="2743200"/>
          </a:xfrm>
          <a:prstGeom prst="rect">
            <a:avLst/>
          </a:prstGeom>
          <a:noFill/>
        </p:spPr>
        <p:txBody>
          <a:bodyPr wrap="square" anchor="t">
            <a:spAutoFit/>
          </a:bodyPr>
          <a:lstStyle/>
          <a:p>
            <a:pPr algn="l">
              <a:lnSpc>
                <a:spcPct val="120000"/>
              </a:lnSpc>
            </a:pPr>
            <a:r>
              <a:rPr sz="1350" b="0" i="0">
                <a:solidFill>
                  <a:srgbClr val="2A384A"/>
                </a:solidFill>
                <a:latin typeface="Georgia"/>
              </a:rPr>
              <a:t>Physical manipulation shortens the distance between intention and action; the user acts on the object itself rather than on a proxy representation.</a:t>
            </a:r>
          </a:p>
        </p:txBody>
      </p:sp>
      <p:sp>
        <p:nvSpPr>
          <p:cNvPr id="8" name="Rectangle 7"/>
          <p:cNvSpPr/>
          <p:nvPr/>
        </p:nvSpPr>
        <p:spPr>
          <a:xfrm>
            <a:off x="320040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78200" y="2011680"/>
            <a:ext cx="234696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PARALLEL AND TWO-HANDED USE</a:t>
            </a:r>
          </a:p>
        </p:txBody>
      </p:sp>
      <p:sp>
        <p:nvSpPr>
          <p:cNvPr id="10" name="TextBox 9"/>
          <p:cNvSpPr txBox="1"/>
          <p:nvPr/>
        </p:nvSpPr>
        <p:spPr>
          <a:xfrm>
            <a:off x="3378200" y="2514600"/>
            <a:ext cx="2346960" cy="2743200"/>
          </a:xfrm>
          <a:prstGeom prst="rect">
            <a:avLst/>
          </a:prstGeom>
          <a:noFill/>
        </p:spPr>
        <p:txBody>
          <a:bodyPr wrap="square" anchor="t">
            <a:spAutoFit/>
          </a:bodyPr>
          <a:lstStyle/>
          <a:p>
            <a:pPr algn="l">
              <a:lnSpc>
                <a:spcPct val="120000"/>
              </a:lnSpc>
            </a:pPr>
            <a:r>
              <a:rPr sz="1350" b="0" i="0">
                <a:solidFill>
                  <a:srgbClr val="2A384A"/>
                </a:solidFill>
                <a:latin typeface="Georgia"/>
              </a:rPr>
              <a:t>Physical objects support simultaneous, multi-point manipulation in ways that a single-pointer graphical interface cannot.</a:t>
            </a:r>
          </a:p>
        </p:txBody>
      </p:sp>
      <p:sp>
        <p:nvSpPr>
          <p:cNvPr id="11" name="Rectangle 10"/>
          <p:cNvSpPr/>
          <p:nvPr/>
        </p:nvSpPr>
        <p:spPr>
          <a:xfrm>
            <a:off x="585216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29960" y="2011680"/>
            <a:ext cx="234696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PASSIVE PERCEPTION</a:t>
            </a:r>
          </a:p>
        </p:txBody>
      </p:sp>
      <p:sp>
        <p:nvSpPr>
          <p:cNvPr id="13" name="TextBox 12"/>
          <p:cNvSpPr txBox="1"/>
          <p:nvPr/>
        </p:nvSpPr>
        <p:spPr>
          <a:xfrm>
            <a:off x="6029960" y="2514600"/>
            <a:ext cx="2346960" cy="2743200"/>
          </a:xfrm>
          <a:prstGeom prst="rect">
            <a:avLst/>
          </a:prstGeom>
          <a:noFill/>
        </p:spPr>
        <p:txBody>
          <a:bodyPr wrap="square" anchor="t">
            <a:spAutoFit/>
          </a:bodyPr>
          <a:lstStyle/>
          <a:p>
            <a:pPr algn="l">
              <a:lnSpc>
                <a:spcPct val="120000"/>
              </a:lnSpc>
            </a:pPr>
            <a:r>
              <a:rPr sz="1350" b="0" i="0">
                <a:solidFill>
                  <a:srgbClr val="2A384A"/>
                </a:solidFill>
                <a:latin typeface="Georgia"/>
              </a:rPr>
              <a:t>State can be read peripherally, through glance or touch, without requiring focused visual attention on a screen.</a:t>
            </a:r>
          </a:p>
        </p:txBody>
      </p:sp>
      <p:sp>
        <p:nvSpPr>
          <p:cNvPr id="14" name="Rectangle 13"/>
          <p:cNvSpPr/>
          <p:nvPr/>
        </p:nvSpPr>
        <p:spPr>
          <a:xfrm>
            <a:off x="850392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1720" y="2011680"/>
            <a:ext cx="234696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ACCESSIBILITY OF SKILL</a:t>
            </a:r>
          </a:p>
        </p:txBody>
      </p:sp>
      <p:sp>
        <p:nvSpPr>
          <p:cNvPr id="16" name="TextBox 15"/>
          <p:cNvSpPr txBox="1"/>
          <p:nvPr/>
        </p:nvSpPr>
        <p:spPr>
          <a:xfrm>
            <a:off x="8681720" y="2514600"/>
            <a:ext cx="2346960" cy="2743200"/>
          </a:xfrm>
          <a:prstGeom prst="rect">
            <a:avLst/>
          </a:prstGeom>
          <a:noFill/>
        </p:spPr>
        <p:txBody>
          <a:bodyPr wrap="square" anchor="t">
            <a:spAutoFit/>
          </a:bodyPr>
          <a:lstStyle/>
          <a:p>
            <a:pPr algn="l">
              <a:lnSpc>
                <a:spcPct val="120000"/>
              </a:lnSpc>
            </a:pPr>
            <a:r>
              <a:rPr sz="1350" b="0" i="0">
                <a:solidFill>
                  <a:srgbClr val="2A384A"/>
                </a:solidFill>
                <a:latin typeface="Georgia"/>
              </a:rPr>
              <a:t>Tangible interaction draws on everyday object-handling skills that most users already possess, lowering the threshold for competent use.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UNDERSTANDING TUI</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CASE STUDY</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Bloomwave</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Bloomwave is a tangible interface product in which a physical vase reflects a remote signal, such as a message or notification, through a corresponding physical change, for example an opening or closing motion of a flower-like form. The digital event (the remote signal) and the physical output (the vase's motion) are directly coupled, and the state is legible without a screen. Bloomwave is used throughout this deck as a recurring case study because it demonstrates the tangible-interface pattern in a consumer product context.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82840"/>
        </a:solidFill>
        <a:effectLst/>
      </p:bgPr>
    </p:bg>
    <p:spTree>
      <p:nvGrpSpPr>
        <p:cNvPr id="1" name=""/>
        <p:cNvGrpSpPr/>
        <p:nvPr/>
      </p:nvGrpSpPr>
      <p:grpSpPr/>
      <p:sp>
        <p:nvSpPr>
          <p:cNvPr id="2" name="TextBox 1"/>
          <p:cNvSpPr txBox="1"/>
          <p:nvPr/>
        </p:nvSpPr>
        <p:spPr>
          <a:xfrm>
            <a:off x="822960" y="2834640"/>
            <a:ext cx="10515600" cy="1280160"/>
          </a:xfrm>
          <a:prstGeom prst="rect">
            <a:avLst/>
          </a:prstGeom>
          <a:noFill/>
        </p:spPr>
        <p:txBody>
          <a:bodyPr wrap="square" anchor="t">
            <a:spAutoFit/>
          </a:bodyPr>
          <a:lstStyle/>
          <a:p>
            <a:pPr algn="l">
              <a:lnSpc>
                <a:spcPct val="100000"/>
              </a:lnSpc>
            </a:pPr>
            <a:r>
              <a:rPr sz="4000" b="0" i="0">
                <a:solidFill>
                  <a:srgbClr val="F2EDE2"/>
                </a:solidFill>
                <a:latin typeface="Georgia"/>
              </a:rPr>
              <a:t>Tokens and Controls</a:t>
            </a:r>
          </a:p>
        </p:txBody>
      </p:sp>
      <p:sp>
        <p:nvSpPr>
          <p:cNvPr id="3" name="TextBox 2"/>
          <p:cNvSpPr txBox="1"/>
          <p:nvPr/>
        </p:nvSpPr>
        <p:spPr>
          <a:xfrm>
            <a:off x="822960" y="3840480"/>
            <a:ext cx="9601200" cy="914400"/>
          </a:xfrm>
          <a:prstGeom prst="rect">
            <a:avLst/>
          </a:prstGeom>
          <a:noFill/>
        </p:spPr>
        <p:txBody>
          <a:bodyPr wrap="square" anchor="t">
            <a:spAutoFit/>
          </a:bodyPr>
          <a:lstStyle/>
          <a:p>
            <a:pPr algn="l">
              <a:lnSpc>
                <a:spcPct val="100000"/>
              </a:lnSpc>
            </a:pPr>
            <a:r>
              <a:rPr sz="1600" b="0" i="1">
                <a:solidFill>
                  <a:srgbClr val="C9DCE9"/>
                </a:solidFill>
                <a:latin typeface="Georgia"/>
              </a:rPr>
              <a:t>The vocabulary used to describe tangible components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COMPONENT VOCABULARY</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Token</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A token is a physical object that represents a specific piece of digital information or a specific digital entity. Tokens are typically constrained in what they represent: a single token corresponds to a single referent, such as a file, a location, or a person, and its physical properties (shape, weight, material) may be chosen to reflect properties of that referent.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Token: Examples</a:t>
            </a:r>
          </a:p>
        </p:txBody>
      </p:sp>
      <p:sp>
        <p:nvSpPr>
          <p:cNvPr id="5" name="Rectangle 4"/>
          <p:cNvSpPr/>
          <p:nvPr/>
        </p:nvSpPr>
        <p:spPr>
          <a:xfrm>
            <a:off x="54864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44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DEFINITION</a:t>
            </a:r>
          </a:p>
        </p:txBody>
      </p:sp>
      <p:sp>
        <p:nvSpPr>
          <p:cNvPr id="7" name="TextBox 6"/>
          <p:cNvSpPr txBox="1"/>
          <p:nvPr/>
        </p:nvSpPr>
        <p:spPr>
          <a:xfrm>
            <a:off x="72644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A token is a physical object whose identity stands in for something else in the digital or computational system. The defining question is: what physical thing is standing in for something else?</a:t>
            </a:r>
          </a:p>
        </p:txBody>
      </p:sp>
      <p:sp>
        <p:nvSpPr>
          <p:cNvPr id="8" name="Rectangle 7"/>
          <p:cNvSpPr/>
          <p:nvPr/>
        </p:nvSpPr>
        <p:spPr>
          <a:xfrm>
            <a:off x="408432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212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EXAMPLES</a:t>
            </a:r>
          </a:p>
        </p:txBody>
      </p:sp>
      <p:sp>
        <p:nvSpPr>
          <p:cNvPr id="10" name="TextBox 9"/>
          <p:cNvSpPr txBox="1"/>
          <p:nvPr/>
        </p:nvSpPr>
        <p:spPr>
          <a:xfrm>
            <a:off x="426212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A wooden fish represents a fish in a digital ecosystem. A physical block represents a building. A card represents a person, file, or command. A knob represents a volume level. A puck placed on a map represents a location. A wooden animal placed on a landscape represents that animal.</a:t>
            </a:r>
          </a:p>
        </p:txBody>
      </p:sp>
      <p:sp>
        <p:nvSpPr>
          <p:cNvPr id="11" name="Rectangle 10"/>
          <p:cNvSpPr/>
          <p:nvPr/>
        </p:nvSpPr>
        <p:spPr>
          <a:xfrm>
            <a:off x="762000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780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WHAT MATTERS</a:t>
            </a:r>
          </a:p>
        </p:txBody>
      </p:sp>
      <p:sp>
        <p:nvSpPr>
          <p:cNvPr id="13" name="TextBox 12"/>
          <p:cNvSpPr txBox="1"/>
          <p:nvPr/>
        </p:nvSpPr>
        <p:spPr>
          <a:xfrm>
            <a:off x="779780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The important property of a token is not that it is physical. The important property is that the physical object carries a meaning or identity within the system it is coupled 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COMPONENT VOCABULARY</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Control</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A control is a physical object or physical feature of an object that is used to manipulate digital information or trigger a digital process. Unlike a token, a control does not itself represent a specific piece of information; instead, it provides a means of acting on information, analogous to a button, dial, or lever in a mechanical system.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Control: Examples</a:t>
            </a:r>
          </a:p>
        </p:txBody>
      </p:sp>
      <p:sp>
        <p:nvSpPr>
          <p:cNvPr id="5" name="Rectangle 4"/>
          <p:cNvSpPr/>
          <p:nvPr/>
        </p:nvSpPr>
        <p:spPr>
          <a:xfrm>
            <a:off x="54864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44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DEFINITION</a:t>
            </a:r>
          </a:p>
        </p:txBody>
      </p:sp>
      <p:sp>
        <p:nvSpPr>
          <p:cNvPr id="7" name="TextBox 6"/>
          <p:cNvSpPr txBox="1"/>
          <p:nvPr/>
        </p:nvSpPr>
        <p:spPr>
          <a:xfrm>
            <a:off x="72644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A control is the mechanism through which a user causes a change in the system. The defining question is: what can I physically do to affect the system?</a:t>
            </a:r>
          </a:p>
        </p:txBody>
      </p:sp>
      <p:sp>
        <p:nvSpPr>
          <p:cNvPr id="8" name="Rectangle 7"/>
          <p:cNvSpPr/>
          <p:nvPr/>
        </p:nvSpPr>
        <p:spPr>
          <a:xfrm>
            <a:off x="408432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212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EXAMPLES</a:t>
            </a:r>
          </a:p>
        </p:txBody>
      </p:sp>
      <p:sp>
        <p:nvSpPr>
          <p:cNvPr id="10" name="TextBox 9"/>
          <p:cNvSpPr txBox="1"/>
          <p:nvPr/>
        </p:nvSpPr>
        <p:spPr>
          <a:xfrm>
            <a:off x="426212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Turn a knob to change volume. Slide a lever to change speed. Press a button to trigger an action. Move a block to change a parameter. Rotate an object to change orientation. Place an object somewhere to select a location. Cover or uncover something to activate or deactivate it.</a:t>
            </a:r>
          </a:p>
        </p:txBody>
      </p:sp>
      <p:sp>
        <p:nvSpPr>
          <p:cNvPr id="11" name="Rectangle 10"/>
          <p:cNvSpPr/>
          <p:nvPr/>
        </p:nvSpPr>
        <p:spPr>
          <a:xfrm>
            <a:off x="762000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780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SUMMARY</a:t>
            </a:r>
          </a:p>
        </p:txBody>
      </p:sp>
      <p:sp>
        <p:nvSpPr>
          <p:cNvPr id="13" name="TextBox 12"/>
          <p:cNvSpPr txBox="1"/>
          <p:nvPr/>
        </p:nvSpPr>
        <p:spPr>
          <a:xfrm>
            <a:off x="779780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Control = the physical mechanism or action used to manipulate the system. A token names what is being manipulated; a control names how the manipulation happens.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WORKED EXAMPLE</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Token, Control, and System Response</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Consider a physical wooden fish mounted on a wall, coupled to a sensing and output system. The fish itself is the token: it represents a specific fish in a digital ecosystem. Moving the fish is the input, registered through a control. A sensor detects the fish's position or movement; the system identifies which fish token has been manipulated; a motor and speaker then produce the output, moving the tail and playing a sound. The full interaction can be written as a pipeline: token, then control, then computation, then output. For example: the user moves the wooden fish; the sensor detects its position; the system identifies it as fish #3; a motor moves its scales and a sound plays.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A KEY NUANCE</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A Token Can Also Be a Control</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A physical object can simultaneously be the thing being represented and the thing being manipulated. Consider a physical wooden tree token used in a landscape simulation. Placing it on the left makes the simulated forest dry; placing it on the right makes it dense. Rotating the tree changes the season; lifting it removes the tree from the simulation. Here, the tree is the token, and its position and orientation are the control. A separate button is not required: the same physical object carries both roles at once.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Three Questions for Analyzing Any TUI</a:t>
            </a:r>
          </a:p>
        </p:txBody>
      </p:sp>
      <p:sp>
        <p:nvSpPr>
          <p:cNvPr id="5" name="Rectangle 4"/>
          <p:cNvSpPr/>
          <p:nvPr/>
        </p:nvSpPr>
        <p:spPr>
          <a:xfrm>
            <a:off x="548640" y="1920240"/>
            <a:ext cx="38100" cy="777240"/>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9875520" cy="365760"/>
          </a:xfrm>
          <a:prstGeom prst="rect">
            <a:avLst/>
          </a:prstGeom>
          <a:noFill/>
        </p:spPr>
        <p:txBody>
          <a:bodyPr wrap="square" anchor="t">
            <a:spAutoFit/>
          </a:bodyPr>
          <a:lstStyle/>
          <a:p>
            <a:pPr algn="l">
              <a:lnSpc>
                <a:spcPct val="100000"/>
              </a:lnSpc>
            </a:pPr>
            <a:r>
              <a:rPr sz="1600" b="1" i="0">
                <a:solidFill>
                  <a:srgbClr val="1F3350"/>
                </a:solidFill>
                <a:latin typeface="Helvetica Neue"/>
              </a:rPr>
              <a:t>Q1 — What is the token?</a:t>
            </a:r>
          </a:p>
        </p:txBody>
      </p:sp>
      <p:sp>
        <p:nvSpPr>
          <p:cNvPr id="7" name="TextBox 6"/>
          <p:cNvSpPr txBox="1"/>
          <p:nvPr/>
        </p:nvSpPr>
        <p:spPr>
          <a:xfrm>
            <a:off x="777240" y="2286000"/>
            <a:ext cx="9875520" cy="457200"/>
          </a:xfrm>
          <a:prstGeom prst="rect">
            <a:avLst/>
          </a:prstGeom>
          <a:noFill/>
        </p:spPr>
        <p:txBody>
          <a:bodyPr wrap="square" anchor="t">
            <a:spAutoFit/>
          </a:bodyPr>
          <a:lstStyle/>
          <a:p>
            <a:pPr algn="l">
              <a:lnSpc>
                <a:spcPct val="100000"/>
              </a:lnSpc>
            </a:pPr>
            <a:r>
              <a:rPr sz="1400" b="0" i="0">
                <a:solidFill>
                  <a:srgbClr val="2A384A"/>
                </a:solidFill>
                <a:latin typeface="Georgia"/>
              </a:rPr>
              <a:t>What physical thing represents something in the underlying system?</a:t>
            </a:r>
          </a:p>
        </p:txBody>
      </p:sp>
      <p:sp>
        <p:nvSpPr>
          <p:cNvPr id="8" name="Rectangle 7"/>
          <p:cNvSpPr/>
          <p:nvPr/>
        </p:nvSpPr>
        <p:spPr>
          <a:xfrm>
            <a:off x="548640" y="2834640"/>
            <a:ext cx="38100" cy="777240"/>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34640"/>
            <a:ext cx="9875520" cy="365760"/>
          </a:xfrm>
          <a:prstGeom prst="rect">
            <a:avLst/>
          </a:prstGeom>
          <a:noFill/>
        </p:spPr>
        <p:txBody>
          <a:bodyPr wrap="square" anchor="t">
            <a:spAutoFit/>
          </a:bodyPr>
          <a:lstStyle/>
          <a:p>
            <a:pPr algn="l">
              <a:lnSpc>
                <a:spcPct val="100000"/>
              </a:lnSpc>
            </a:pPr>
            <a:r>
              <a:rPr sz="1600" b="1" i="0">
                <a:solidFill>
                  <a:srgbClr val="1F3350"/>
                </a:solidFill>
                <a:latin typeface="Helvetica Neue"/>
              </a:rPr>
              <a:t>Q2 — What is the control?</a:t>
            </a:r>
          </a:p>
        </p:txBody>
      </p:sp>
      <p:sp>
        <p:nvSpPr>
          <p:cNvPr id="10" name="TextBox 9"/>
          <p:cNvSpPr txBox="1"/>
          <p:nvPr/>
        </p:nvSpPr>
        <p:spPr>
          <a:xfrm>
            <a:off x="777240" y="3200400"/>
            <a:ext cx="9875520" cy="457200"/>
          </a:xfrm>
          <a:prstGeom prst="rect">
            <a:avLst/>
          </a:prstGeom>
          <a:noFill/>
        </p:spPr>
        <p:txBody>
          <a:bodyPr wrap="square" anchor="t">
            <a:spAutoFit/>
          </a:bodyPr>
          <a:lstStyle/>
          <a:p>
            <a:pPr algn="l">
              <a:lnSpc>
                <a:spcPct val="100000"/>
              </a:lnSpc>
            </a:pPr>
            <a:r>
              <a:rPr sz="1400" b="0" i="0">
                <a:solidFill>
                  <a:srgbClr val="2A384A"/>
                </a:solidFill>
                <a:latin typeface="Georgia"/>
              </a:rPr>
              <a:t>What physical action can the user perform on that thing?</a:t>
            </a:r>
          </a:p>
        </p:txBody>
      </p:sp>
      <p:sp>
        <p:nvSpPr>
          <p:cNvPr id="11" name="Rectangle 10"/>
          <p:cNvSpPr/>
          <p:nvPr/>
        </p:nvSpPr>
        <p:spPr>
          <a:xfrm>
            <a:off x="548640" y="3749040"/>
            <a:ext cx="38100" cy="777240"/>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749040"/>
            <a:ext cx="9875520" cy="365760"/>
          </a:xfrm>
          <a:prstGeom prst="rect">
            <a:avLst/>
          </a:prstGeom>
          <a:noFill/>
        </p:spPr>
        <p:txBody>
          <a:bodyPr wrap="square" anchor="t">
            <a:spAutoFit/>
          </a:bodyPr>
          <a:lstStyle/>
          <a:p>
            <a:pPr algn="l">
              <a:lnSpc>
                <a:spcPct val="100000"/>
              </a:lnSpc>
            </a:pPr>
            <a:r>
              <a:rPr sz="1600" b="1" i="0">
                <a:solidFill>
                  <a:srgbClr val="1F3350"/>
                </a:solidFill>
                <a:latin typeface="Helvetica Neue"/>
              </a:rPr>
              <a:t>Q3 — What changes?</a:t>
            </a:r>
          </a:p>
        </p:txBody>
      </p:sp>
      <p:sp>
        <p:nvSpPr>
          <p:cNvPr id="13" name="TextBox 12"/>
          <p:cNvSpPr txBox="1"/>
          <p:nvPr/>
        </p:nvSpPr>
        <p:spPr>
          <a:xfrm>
            <a:off x="777240" y="4114800"/>
            <a:ext cx="9875520" cy="457200"/>
          </a:xfrm>
          <a:prstGeom prst="rect">
            <a:avLst/>
          </a:prstGeom>
          <a:noFill/>
        </p:spPr>
        <p:txBody>
          <a:bodyPr wrap="square" anchor="t">
            <a:spAutoFit/>
          </a:bodyPr>
          <a:lstStyle/>
          <a:p>
            <a:pPr algn="l">
              <a:lnSpc>
                <a:spcPct val="100000"/>
              </a:lnSpc>
            </a:pPr>
            <a:r>
              <a:rPr sz="1400" b="0" i="0">
                <a:solidFill>
                  <a:srgbClr val="2A384A"/>
                </a:solidFill>
                <a:latin typeface="Georgia"/>
              </a:rPr>
              <a:t>What does the system do as a result of that action?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CASE STUDY</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Hotel Keycard and Elevator Access</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A hotel keycard functions as a token: it represents a specific guest's access rights and room assignment, and is physically distinct per guest. The elevator's floor-selection panel functions as a set of controls: pressing a floor button triggers the digital process of dispatching the car, but the button itself does not represent guest-specific information. In some systems, the keycard is also used at the elevator panel, restricting which floor controls will register a valid input — an example of a token constraining the behavior of a set of controls.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Discussion Prompt</a:t>
            </a:r>
          </a:p>
        </p:txBody>
      </p:sp>
      <p:sp>
        <p:nvSpPr>
          <p:cNvPr id="5" name="Rectangle 4"/>
          <p:cNvSpPr/>
          <p:nvPr/>
        </p:nvSpPr>
        <p:spPr>
          <a:xfrm>
            <a:off x="548640" y="1920240"/>
            <a:ext cx="38100" cy="777240"/>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9875520" cy="365760"/>
          </a:xfrm>
          <a:prstGeom prst="rect">
            <a:avLst/>
          </a:prstGeom>
          <a:noFill/>
        </p:spPr>
        <p:txBody>
          <a:bodyPr wrap="square" anchor="t">
            <a:spAutoFit/>
          </a:bodyPr>
          <a:lstStyle/>
          <a:p>
            <a:pPr algn="l">
              <a:lnSpc>
                <a:spcPct val="100000"/>
              </a:lnSpc>
            </a:pPr>
            <a:r>
              <a:rPr sz="1600" b="1" i="0">
                <a:solidFill>
                  <a:srgbClr val="1F3350"/>
                </a:solidFill>
                <a:latin typeface="Helvetica Neue"/>
              </a:rPr>
              <a:t>Q1</a:t>
            </a:r>
          </a:p>
        </p:txBody>
      </p:sp>
      <p:sp>
        <p:nvSpPr>
          <p:cNvPr id="7" name="TextBox 6"/>
          <p:cNvSpPr txBox="1"/>
          <p:nvPr/>
        </p:nvSpPr>
        <p:spPr>
          <a:xfrm>
            <a:off x="777240" y="2286000"/>
            <a:ext cx="9875520" cy="457200"/>
          </a:xfrm>
          <a:prstGeom prst="rect">
            <a:avLst/>
          </a:prstGeom>
          <a:noFill/>
        </p:spPr>
        <p:txBody>
          <a:bodyPr wrap="square" anchor="t">
            <a:spAutoFit/>
          </a:bodyPr>
          <a:lstStyle/>
          <a:p>
            <a:pPr algn="l">
              <a:lnSpc>
                <a:spcPct val="100000"/>
              </a:lnSpc>
            </a:pPr>
            <a:r>
              <a:rPr sz="1400" b="0" i="0">
                <a:solidFill>
                  <a:srgbClr val="2A384A"/>
                </a:solidFill>
                <a:latin typeface="Georgia"/>
              </a:rPr>
              <a:t>Identify one token and one control in an interface you used today.</a:t>
            </a:r>
          </a:p>
        </p:txBody>
      </p:sp>
      <p:sp>
        <p:nvSpPr>
          <p:cNvPr id="8" name="Rectangle 7"/>
          <p:cNvSpPr/>
          <p:nvPr/>
        </p:nvSpPr>
        <p:spPr>
          <a:xfrm>
            <a:off x="548640" y="2834640"/>
            <a:ext cx="38100" cy="777240"/>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34640"/>
            <a:ext cx="9875520" cy="365760"/>
          </a:xfrm>
          <a:prstGeom prst="rect">
            <a:avLst/>
          </a:prstGeom>
          <a:noFill/>
        </p:spPr>
        <p:txBody>
          <a:bodyPr wrap="square" anchor="t">
            <a:spAutoFit/>
          </a:bodyPr>
          <a:lstStyle/>
          <a:p>
            <a:pPr algn="l">
              <a:lnSpc>
                <a:spcPct val="100000"/>
              </a:lnSpc>
            </a:pPr>
            <a:r>
              <a:rPr sz="1600" b="1" i="0">
                <a:solidFill>
                  <a:srgbClr val="1F3350"/>
                </a:solidFill>
                <a:latin typeface="Helvetica Neue"/>
              </a:rPr>
              <a:t>Q2</a:t>
            </a:r>
          </a:p>
        </p:txBody>
      </p:sp>
      <p:sp>
        <p:nvSpPr>
          <p:cNvPr id="10" name="TextBox 9"/>
          <p:cNvSpPr txBox="1"/>
          <p:nvPr/>
        </p:nvSpPr>
        <p:spPr>
          <a:xfrm>
            <a:off x="777240" y="3200400"/>
            <a:ext cx="9875520" cy="457200"/>
          </a:xfrm>
          <a:prstGeom prst="rect">
            <a:avLst/>
          </a:prstGeom>
          <a:noFill/>
        </p:spPr>
        <p:txBody>
          <a:bodyPr wrap="square" anchor="t">
            <a:spAutoFit/>
          </a:bodyPr>
          <a:lstStyle/>
          <a:p>
            <a:pPr algn="l">
              <a:lnSpc>
                <a:spcPct val="100000"/>
              </a:lnSpc>
            </a:pPr>
            <a:r>
              <a:rPr sz="1400" b="0" i="0">
                <a:solidFill>
                  <a:srgbClr val="2A384A"/>
                </a:solidFill>
                <a:latin typeface="Georgia"/>
              </a:rPr>
              <a:t>Could the token in your example be replaced by a generic control without losing information? What would be lost?</a:t>
            </a:r>
          </a:p>
        </p:txBody>
      </p:sp>
      <p:sp>
        <p:nvSpPr>
          <p:cNvPr id="11" name="Rectangle 10"/>
          <p:cNvSpPr/>
          <p:nvPr/>
        </p:nvSpPr>
        <p:spPr>
          <a:xfrm>
            <a:off x="548640" y="3749040"/>
            <a:ext cx="38100" cy="777240"/>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749040"/>
            <a:ext cx="9875520" cy="365760"/>
          </a:xfrm>
          <a:prstGeom prst="rect">
            <a:avLst/>
          </a:prstGeom>
          <a:noFill/>
        </p:spPr>
        <p:txBody>
          <a:bodyPr wrap="square" anchor="t">
            <a:spAutoFit/>
          </a:bodyPr>
          <a:lstStyle/>
          <a:p>
            <a:pPr algn="l">
              <a:lnSpc>
                <a:spcPct val="100000"/>
              </a:lnSpc>
            </a:pPr>
            <a:r>
              <a:rPr sz="1600" b="1" i="0">
                <a:solidFill>
                  <a:srgbClr val="1F3350"/>
                </a:solidFill>
                <a:latin typeface="Helvetica Neue"/>
              </a:rPr>
              <a:t>Q3</a:t>
            </a:r>
          </a:p>
        </p:txBody>
      </p:sp>
      <p:sp>
        <p:nvSpPr>
          <p:cNvPr id="13" name="TextBox 12"/>
          <p:cNvSpPr txBox="1"/>
          <p:nvPr/>
        </p:nvSpPr>
        <p:spPr>
          <a:xfrm>
            <a:off x="777240" y="4114800"/>
            <a:ext cx="9875520" cy="457200"/>
          </a:xfrm>
          <a:prstGeom prst="rect">
            <a:avLst/>
          </a:prstGeom>
          <a:noFill/>
        </p:spPr>
        <p:txBody>
          <a:bodyPr wrap="square" anchor="t">
            <a:spAutoFit/>
          </a:bodyPr>
          <a:lstStyle/>
          <a:p>
            <a:pPr algn="l">
              <a:lnSpc>
                <a:spcPct val="100000"/>
              </a:lnSpc>
            </a:pPr>
            <a:r>
              <a:rPr sz="1400" b="0" i="0">
                <a:solidFill>
                  <a:srgbClr val="2A384A"/>
                </a:solidFill>
                <a:latin typeface="Georgia"/>
              </a:rPr>
              <a:t>Where does the boundary between token and control become ambiguous in your example?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A COMMON MISCONCEPTION</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Why Is a TV Remote Not a TUI?</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A television remote control is a useful counter-example, because it shows that physical interaction is not sufficient for an interface to count as tangible. A remote is a physical interface: it is a physical object, and the user physically acts on it. But its buttons are controls that issue commands; they are not tangible representations of the thing being manipulated. When a user presses Volume+, the button sends a command and the television's volume changes, but the button itself does not physically represent the volume level. There is no physical object whose state corresponds to the state of the thing being controlled.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77240"/>
            <a:ext cx="10058400" cy="640080"/>
          </a:xfrm>
          <a:prstGeom prst="rect">
            <a:avLst/>
          </a:prstGeom>
          <a:noFill/>
        </p:spPr>
        <p:txBody>
          <a:bodyPr wrap="square" anchor="t">
            <a:spAutoFit/>
          </a:bodyPr>
          <a:lstStyle/>
          <a:p>
            <a:pPr algn="l">
              <a:lnSpc>
                <a:spcPct val="100000"/>
              </a:lnSpc>
            </a:pPr>
            <a:r>
              <a:rPr sz="2600" b="1" i="0">
                <a:solidFill>
                  <a:srgbClr val="1F3350"/>
                </a:solidFill>
                <a:latin typeface="Georgia"/>
              </a:rPr>
              <a:t>TV Remote Compared to a Tangible Interface</a:t>
            </a:r>
          </a:p>
        </p:txBody>
      </p:sp>
      <p:graphicFrame>
        <p:nvGraphicFramePr>
          <p:cNvPr id="5" name="Table 4"/>
          <p:cNvGraphicFramePr>
            <a:graphicFrameLocks noGrp="1"/>
          </p:cNvGraphicFramePr>
          <p:nvPr/>
        </p:nvGraphicFramePr>
        <p:xfrm>
          <a:off x="548640" y="1600200"/>
          <a:ext cx="11064240" cy="4754880"/>
        </p:xfrm>
        <a:graphic>
          <a:graphicData uri="http://schemas.openxmlformats.org/drawingml/2006/table">
            <a:tbl>
              <a:tblPr firstRow="1" bandRow="1">
                <a:tableStyleId>{5C22544A-7EE6-4342-B048-85BDC9FD1C3A}</a:tableStyleId>
              </a:tblPr>
              <a:tblGrid>
                <a:gridCol w="3840480"/>
                <a:gridCol w="3200400"/>
                <a:gridCol w="4023360"/>
              </a:tblGrid>
              <a:tr h="679268">
                <a:tc>
                  <a:txBody>
                    <a:bodyPr/>
                    <a:lstStyle/>
                    <a:p>
                      <a:pPr>
                        <a:defRPr sz="1200" b="1">
                          <a:solidFill>
                            <a:srgbClr val="F2EDE2"/>
                          </a:solidFill>
                          <a:latin typeface="Helvetica Neue"/>
                        </a:defRPr>
                      </a:pPr>
                      <a:r>
                        <a:t>Property</a:t>
                      </a:r>
                    </a:p>
                  </a:txBody>
                  <a:tcPr>
                    <a:solidFill>
                      <a:srgbClr val="1F3350"/>
                    </a:solidFill>
                  </a:tcPr>
                </a:tc>
                <a:tc>
                  <a:txBody>
                    <a:bodyPr/>
                    <a:lstStyle/>
                    <a:p>
                      <a:pPr>
                        <a:defRPr sz="1200" b="1">
                          <a:solidFill>
                            <a:srgbClr val="F2EDE2"/>
                          </a:solidFill>
                          <a:latin typeface="Helvetica Neue"/>
                        </a:defRPr>
                      </a:pPr>
                      <a:r>
                        <a:t>TV Remote</a:t>
                      </a:r>
                    </a:p>
                  </a:txBody>
                  <a:tcPr>
                    <a:solidFill>
                      <a:srgbClr val="1F3350"/>
                    </a:solidFill>
                  </a:tcPr>
                </a:tc>
                <a:tc>
                  <a:txBody>
                    <a:bodyPr/>
                    <a:lstStyle/>
                    <a:p>
                      <a:pPr>
                        <a:defRPr sz="1200" b="1">
                          <a:solidFill>
                            <a:srgbClr val="F2EDE2"/>
                          </a:solidFill>
                          <a:latin typeface="Helvetica Neue"/>
                        </a:defRPr>
                      </a:pPr>
                      <a:r>
                        <a:t>Tangible User Interface</a:t>
                      </a:r>
                    </a:p>
                  </a:txBody>
                  <a:tcPr>
                    <a:solidFill>
                      <a:srgbClr val="1F3350"/>
                    </a:solidFill>
                  </a:tcPr>
                </a:tc>
              </a:tr>
              <a:tr h="679268">
                <a:tc>
                  <a:txBody>
                    <a:bodyPr/>
                    <a:lstStyle/>
                    <a:p>
                      <a:pPr>
                        <a:defRPr sz="1200" b="1">
                          <a:solidFill>
                            <a:srgbClr val="1F3350"/>
                          </a:solidFill>
                          <a:latin typeface="Georgia"/>
                        </a:defRPr>
                      </a:pPr>
                      <a:r>
                        <a:t>Physical object?</a:t>
                      </a:r>
                    </a:p>
                  </a:txBody>
                  <a:tcPr>
                    <a:solidFill>
                      <a:srgbClr val="F5F0E6"/>
                    </a:solidFill>
                  </a:tcPr>
                </a:tc>
                <a:tc>
                  <a:txBody>
                    <a:bodyPr/>
                    <a:lstStyle/>
                    <a:p>
                      <a:pPr>
                        <a:defRPr sz="1200" b="0">
                          <a:solidFill>
                            <a:srgbClr val="2A384A"/>
                          </a:solidFill>
                          <a:latin typeface="Georgia"/>
                        </a:defRPr>
                      </a:pPr>
                      <a:r>
                        <a:t>Yes</a:t>
                      </a:r>
                    </a:p>
                  </a:txBody>
                  <a:tcPr>
                    <a:solidFill>
                      <a:srgbClr val="F5F0E6"/>
                    </a:solidFill>
                  </a:tcPr>
                </a:tc>
                <a:tc>
                  <a:txBody>
                    <a:bodyPr/>
                    <a:lstStyle/>
                    <a:p>
                      <a:pPr>
                        <a:defRPr sz="1200" b="0">
                          <a:solidFill>
                            <a:srgbClr val="2A384A"/>
                          </a:solidFill>
                          <a:latin typeface="Georgia"/>
                        </a:defRPr>
                      </a:pPr>
                      <a:r>
                        <a:t>Yes</a:t>
                      </a:r>
                    </a:p>
                  </a:txBody>
                  <a:tcPr>
                    <a:solidFill>
                      <a:srgbClr val="F5F0E6"/>
                    </a:solidFill>
                  </a:tcPr>
                </a:tc>
              </a:tr>
              <a:tr h="679268">
                <a:tc>
                  <a:txBody>
                    <a:bodyPr/>
                    <a:lstStyle/>
                    <a:p>
                      <a:pPr>
                        <a:defRPr sz="1200" b="1">
                          <a:solidFill>
                            <a:srgbClr val="1F3350"/>
                          </a:solidFill>
                          <a:latin typeface="Georgia"/>
                        </a:defRPr>
                      </a:pPr>
                      <a:r>
                        <a:t>User physically acts on it?</a:t>
                      </a:r>
                    </a:p>
                  </a:txBody>
                  <a:tcPr>
                    <a:solidFill>
                      <a:srgbClr val="F5F0E6"/>
                    </a:solidFill>
                  </a:tcPr>
                </a:tc>
                <a:tc>
                  <a:txBody>
                    <a:bodyPr/>
                    <a:lstStyle/>
                    <a:p>
                      <a:pPr>
                        <a:defRPr sz="1200" b="0">
                          <a:solidFill>
                            <a:srgbClr val="2A384A"/>
                          </a:solidFill>
                          <a:latin typeface="Georgia"/>
                        </a:defRPr>
                      </a:pPr>
                      <a:r>
                        <a:t>Yes</a:t>
                      </a:r>
                    </a:p>
                  </a:txBody>
                  <a:tcPr>
                    <a:solidFill>
                      <a:srgbClr val="F5F0E6"/>
                    </a:solidFill>
                  </a:tcPr>
                </a:tc>
                <a:tc>
                  <a:txBody>
                    <a:bodyPr/>
                    <a:lstStyle/>
                    <a:p>
                      <a:pPr>
                        <a:defRPr sz="1200" b="0">
                          <a:solidFill>
                            <a:srgbClr val="2A384A"/>
                          </a:solidFill>
                          <a:latin typeface="Georgia"/>
                        </a:defRPr>
                      </a:pPr>
                      <a:r>
                        <a:t>Yes</a:t>
                      </a:r>
                    </a:p>
                  </a:txBody>
                  <a:tcPr>
                    <a:solidFill>
                      <a:srgbClr val="F5F0E6"/>
                    </a:solidFill>
                  </a:tcPr>
                </a:tc>
              </a:tr>
              <a:tr h="679268">
                <a:tc>
                  <a:txBody>
                    <a:bodyPr/>
                    <a:lstStyle/>
                    <a:p>
                      <a:pPr>
                        <a:defRPr sz="1200" b="1">
                          <a:solidFill>
                            <a:srgbClr val="1F3350"/>
                          </a:solidFill>
                          <a:latin typeface="Georgia"/>
                        </a:defRPr>
                      </a:pPr>
                      <a:r>
                        <a:t>Has controls?</a:t>
                      </a:r>
                    </a:p>
                  </a:txBody>
                  <a:tcPr>
                    <a:solidFill>
                      <a:srgbClr val="F5F0E6"/>
                    </a:solidFill>
                  </a:tcPr>
                </a:tc>
                <a:tc>
                  <a:txBody>
                    <a:bodyPr/>
                    <a:lstStyle/>
                    <a:p>
                      <a:pPr>
                        <a:defRPr sz="1200" b="0">
                          <a:solidFill>
                            <a:srgbClr val="2A384A"/>
                          </a:solidFill>
                          <a:latin typeface="Georgia"/>
                        </a:defRPr>
                      </a:pPr>
                      <a:r>
                        <a:t>Yes</a:t>
                      </a:r>
                    </a:p>
                  </a:txBody>
                  <a:tcPr>
                    <a:solidFill>
                      <a:srgbClr val="F5F0E6"/>
                    </a:solidFill>
                  </a:tcPr>
                </a:tc>
                <a:tc>
                  <a:txBody>
                    <a:bodyPr/>
                    <a:lstStyle/>
                    <a:p>
                      <a:pPr>
                        <a:defRPr sz="1200" b="0">
                          <a:solidFill>
                            <a:srgbClr val="2A384A"/>
                          </a:solidFill>
                          <a:latin typeface="Georgia"/>
                        </a:defRPr>
                      </a:pPr>
                      <a:r>
                        <a:t>Yes</a:t>
                      </a:r>
                    </a:p>
                  </a:txBody>
                  <a:tcPr>
                    <a:solidFill>
                      <a:srgbClr val="F5F0E6"/>
                    </a:solidFill>
                  </a:tcPr>
                </a:tc>
              </a:tr>
              <a:tr h="679268">
                <a:tc>
                  <a:txBody>
                    <a:bodyPr/>
                    <a:lstStyle/>
                    <a:p>
                      <a:pPr>
                        <a:defRPr sz="1200" b="1">
                          <a:solidFill>
                            <a:srgbClr val="1F3350"/>
                          </a:solidFill>
                          <a:latin typeface="Georgia"/>
                        </a:defRPr>
                      </a:pPr>
                      <a:r>
                        <a:t>Object represents something in the system?</a:t>
                      </a:r>
                    </a:p>
                  </a:txBody>
                  <a:tcPr>
                    <a:solidFill>
                      <a:srgbClr val="F5F0E6"/>
                    </a:solidFill>
                  </a:tcPr>
                </a:tc>
                <a:tc>
                  <a:txBody>
                    <a:bodyPr/>
                    <a:lstStyle/>
                    <a:p>
                      <a:pPr>
                        <a:defRPr sz="1200" b="0">
                          <a:solidFill>
                            <a:srgbClr val="2A384A"/>
                          </a:solidFill>
                          <a:latin typeface="Georgia"/>
                        </a:defRPr>
                      </a:pPr>
                      <a:r>
                        <a:t>Usually not</a:t>
                      </a:r>
                    </a:p>
                  </a:txBody>
                  <a:tcPr>
                    <a:solidFill>
                      <a:srgbClr val="F5F0E6"/>
                    </a:solidFill>
                  </a:tcPr>
                </a:tc>
                <a:tc>
                  <a:txBody>
                    <a:bodyPr/>
                    <a:lstStyle/>
                    <a:p>
                      <a:pPr>
                        <a:defRPr sz="1200" b="0">
                          <a:solidFill>
                            <a:srgbClr val="2A384A"/>
                          </a:solidFill>
                          <a:latin typeface="Georgia"/>
                        </a:defRPr>
                      </a:pPr>
                      <a:r>
                        <a:t>Usually yes</a:t>
                      </a:r>
                    </a:p>
                  </a:txBody>
                  <a:tcPr>
                    <a:solidFill>
                      <a:srgbClr val="F5F0E6"/>
                    </a:solidFill>
                  </a:tcPr>
                </a:tc>
              </a:tr>
              <a:tr h="679268">
                <a:tc>
                  <a:txBody>
                    <a:bodyPr/>
                    <a:lstStyle/>
                    <a:p>
                      <a:pPr>
                        <a:defRPr sz="1200" b="1">
                          <a:solidFill>
                            <a:srgbClr val="1F3350"/>
                          </a:solidFill>
                          <a:latin typeface="Georgia"/>
                        </a:defRPr>
                      </a:pPr>
                      <a:r>
                        <a:t>User manipulates a representation of the</a:t>
                      </a:r>
                    </a:p>
                    <a:p>
                      <a:pPr>
                        <a:defRPr sz="1200" b="1">
                          <a:solidFill>
                            <a:srgbClr val="1F3350"/>
                          </a:solidFill>
                          <a:latin typeface="Georgia"/>
                        </a:defRPr>
                      </a:pPr>
                      <a:r>
                        <a:t>digital object?</a:t>
                      </a:r>
                    </a:p>
                  </a:txBody>
                  <a:tcPr>
                    <a:solidFill>
                      <a:srgbClr val="F5F0E6"/>
                    </a:solidFill>
                  </a:tcPr>
                </a:tc>
                <a:tc>
                  <a:txBody>
                    <a:bodyPr/>
                    <a:lstStyle/>
                    <a:p>
                      <a:pPr>
                        <a:defRPr sz="1200" b="0">
                          <a:solidFill>
                            <a:srgbClr val="2A384A"/>
                          </a:solidFill>
                          <a:latin typeface="Georgia"/>
                        </a:defRPr>
                      </a:pPr>
                      <a:r>
                        <a:t>Usually not</a:t>
                      </a:r>
                    </a:p>
                  </a:txBody>
                  <a:tcPr>
                    <a:solidFill>
                      <a:srgbClr val="F5F0E6"/>
                    </a:solidFill>
                  </a:tcPr>
                </a:tc>
                <a:tc>
                  <a:txBody>
                    <a:bodyPr/>
                    <a:lstStyle/>
                    <a:p>
                      <a:pPr>
                        <a:defRPr sz="1200" b="0">
                          <a:solidFill>
                            <a:srgbClr val="2A384A"/>
                          </a:solidFill>
                          <a:latin typeface="Georgia"/>
                        </a:defRPr>
                      </a:pPr>
                      <a:r>
                        <a:t>Yes</a:t>
                      </a:r>
                    </a:p>
                  </a:txBody>
                  <a:tcPr>
                    <a:solidFill>
                      <a:srgbClr val="F5F0E6"/>
                    </a:solidFill>
                  </a:tcPr>
                </a:tc>
              </a:tr>
              <a:tr h="679272">
                <a:tc>
                  <a:txBody>
                    <a:bodyPr/>
                    <a:lstStyle/>
                    <a:p>
                      <a:pPr>
                        <a:defRPr sz="1200" b="1">
                          <a:solidFill>
                            <a:srgbClr val="1F3350"/>
                          </a:solidFill>
                          <a:latin typeface="Georgia"/>
                        </a:defRPr>
                      </a:pPr>
                      <a:r>
                        <a:t>Main interaction pattern</a:t>
                      </a:r>
                    </a:p>
                  </a:txBody>
                  <a:tcPr>
                    <a:solidFill>
                      <a:srgbClr val="F5F0E6"/>
                    </a:solidFill>
                  </a:tcPr>
                </a:tc>
                <a:tc>
                  <a:txBody>
                    <a:bodyPr/>
                    <a:lstStyle/>
                    <a:p>
                      <a:pPr>
                        <a:defRPr sz="1200" b="0">
                          <a:solidFill>
                            <a:srgbClr val="2A384A"/>
                          </a:solidFill>
                          <a:latin typeface="Georgia"/>
                        </a:defRPr>
                      </a:pPr>
                      <a:r>
                        <a:t>Press button, issue command</a:t>
                      </a:r>
                    </a:p>
                  </a:txBody>
                  <a:tcPr>
                    <a:solidFill>
                      <a:srgbClr val="F5F0E6"/>
                    </a:solidFill>
                  </a:tcPr>
                </a:tc>
                <a:tc>
                  <a:txBody>
                    <a:bodyPr/>
                    <a:lstStyle/>
                    <a:p>
                      <a:pPr>
                        <a:defRPr sz="1200" b="0">
                          <a:solidFill>
                            <a:srgbClr val="2A384A"/>
                          </a:solidFill>
                          <a:latin typeface="Georgia"/>
                        </a:defRPr>
                      </a:pPr>
                      <a:r>
                        <a:t>Manipulate tangible object, system state changes</a:t>
                      </a:r>
                    </a:p>
                  </a:txBody>
                  <a:tcPr>
                    <a:solidFill>
                      <a:srgbClr val="F5F0E6"/>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THE KEY DISTINCTION</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Representation, Not Just Physicality</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A remote's Play, Pause, Volume+, and Channel+ buttons are physical buttons mapped to commands; none of them represents the state of what they control. Now compare a physical volume puck: rotating the puck changes the volume, and the puck's rotational position can itself be read as a representation of the current volume level. Or consider a physical movie token placed onto a marked "now playing" area: the token's position selects the movie. In both cases, the physical object has a meaningful, readable relationship to the digital state it controls. This relationship, not mere physical manipulation, is what makes an interface tangible.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A NUANCE</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The Boundary Can Blur</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The distinction between a remote and a TUI is not absolute. Some systems combine properties of both. For example, consider a remote modified so that physical movie tokens can be placed onto it: placing a specific movie's token on the remote starts that movie playing. In this modified system, the token is a tangible representation of the movie, and its physical placement is part of the interaction, not just a trigger. This design has moved substantially toward a tangible user interface, even though it retains a remote-like form factor.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TOKENS AND CONTROLS</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Three Questions to Separate the Concepts</a:t>
            </a:r>
          </a:p>
        </p:txBody>
      </p:sp>
      <p:sp>
        <p:nvSpPr>
          <p:cNvPr id="5" name="Rectangle 4"/>
          <p:cNvSpPr/>
          <p:nvPr/>
        </p:nvSpPr>
        <p:spPr>
          <a:xfrm>
            <a:off x="54864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44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INTERACTIVITY</a:t>
            </a:r>
          </a:p>
        </p:txBody>
      </p:sp>
      <p:sp>
        <p:nvSpPr>
          <p:cNvPr id="7" name="TextBox 6"/>
          <p:cNvSpPr txBox="1"/>
          <p:nvPr/>
        </p:nvSpPr>
        <p:spPr>
          <a:xfrm>
            <a:off x="72644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Can I affect the system at all, through any means?</a:t>
            </a:r>
          </a:p>
        </p:txBody>
      </p:sp>
      <p:sp>
        <p:nvSpPr>
          <p:cNvPr id="8" name="Rectangle 7"/>
          <p:cNvSpPr/>
          <p:nvPr/>
        </p:nvSpPr>
        <p:spPr>
          <a:xfrm>
            <a:off x="408432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212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(GRAPHICAL) USER INTERFACE</a:t>
            </a:r>
          </a:p>
        </p:txBody>
      </p:sp>
      <p:sp>
        <p:nvSpPr>
          <p:cNvPr id="10" name="TextBox 9"/>
          <p:cNvSpPr txBox="1"/>
          <p:nvPr/>
        </p:nvSpPr>
        <p:spPr>
          <a:xfrm>
            <a:off x="426212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How do I control the system — through what commands, menus, or buttons?</a:t>
            </a:r>
          </a:p>
        </p:txBody>
      </p:sp>
      <p:sp>
        <p:nvSpPr>
          <p:cNvPr id="11" name="Rectangle 10"/>
          <p:cNvSpPr/>
          <p:nvPr/>
        </p:nvSpPr>
        <p:spPr>
          <a:xfrm>
            <a:off x="762000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780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TANGIBLE USER INTERFACE</a:t>
            </a:r>
          </a:p>
        </p:txBody>
      </p:sp>
      <p:sp>
        <p:nvSpPr>
          <p:cNvPr id="13" name="TextBox 12"/>
          <p:cNvSpPr txBox="1"/>
          <p:nvPr/>
        </p:nvSpPr>
        <p:spPr>
          <a:xfrm>
            <a:off x="779780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Can I physically manipulate a representation of the thing I am controlling?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82840"/>
        </a:solidFill>
        <a:effectLst/>
      </p:bgPr>
    </p:bg>
    <p:spTree>
      <p:nvGrpSpPr>
        <p:cNvPr id="1" name=""/>
        <p:cNvGrpSpPr/>
        <p:nvPr/>
      </p:nvGrpSpPr>
      <p:grpSpPr/>
      <p:sp>
        <p:nvSpPr>
          <p:cNvPr id="2" name="TextBox 1"/>
          <p:cNvSpPr txBox="1"/>
          <p:nvPr/>
        </p:nvSpPr>
        <p:spPr>
          <a:xfrm>
            <a:off x="822960" y="2834640"/>
            <a:ext cx="10515600" cy="1280160"/>
          </a:xfrm>
          <a:prstGeom prst="rect">
            <a:avLst/>
          </a:prstGeom>
          <a:noFill/>
        </p:spPr>
        <p:txBody>
          <a:bodyPr wrap="square" anchor="t">
            <a:spAutoFit/>
          </a:bodyPr>
          <a:lstStyle/>
          <a:p>
            <a:pPr algn="l">
              <a:lnSpc>
                <a:spcPct val="100000"/>
              </a:lnSpc>
            </a:pPr>
            <a:r>
              <a:rPr sz="4000" b="0" i="0">
                <a:solidFill>
                  <a:srgbClr val="F2EDE2"/>
                </a:solidFill>
                <a:latin typeface="Georgia"/>
              </a:rPr>
              <a:t>Principles of Interaction</a:t>
            </a:r>
          </a:p>
        </p:txBody>
      </p:sp>
      <p:sp>
        <p:nvSpPr>
          <p:cNvPr id="3" name="TextBox 2"/>
          <p:cNvSpPr txBox="1"/>
          <p:nvPr/>
        </p:nvSpPr>
        <p:spPr>
          <a:xfrm>
            <a:off x="822960" y="3840480"/>
            <a:ext cx="9601200" cy="914400"/>
          </a:xfrm>
          <a:prstGeom prst="rect">
            <a:avLst/>
          </a:prstGeom>
          <a:noFill/>
        </p:spPr>
        <p:txBody>
          <a:bodyPr wrap="square" anchor="t">
            <a:spAutoFit/>
          </a:bodyPr>
          <a:lstStyle/>
          <a:p>
            <a:pPr algn="l">
              <a:lnSpc>
                <a:spcPct val="100000"/>
              </a:lnSpc>
            </a:pPr>
            <a:r>
              <a:rPr sz="1600" b="0" i="1">
                <a:solidFill>
                  <a:srgbClr val="C9DCE9"/>
                </a:solidFill>
                <a:latin typeface="Georgia"/>
              </a:rPr>
              <a:t>Six general usability principles, after Don Norman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NORMAN'S PRINCIPLES</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Visibility</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The state of a system and the actions available to the user should be perceivable without additional explanation. A visible interface reduces the cognitive burden of recalling how to operate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NORMAN'S PRINCIPLES</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Feedback</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Every user action should produce an immediate, perceivable response that confirms the action was registered and indicates its effect. Feedback may be visual, auditory, or haptic.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NORMAN'S PRINCIPLES</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Constraints</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Physical, logical, or cultural limits on possible actions reduce the chance of error by preventing or discouraging incorrect operations before they occur.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MAPPING, PART 1</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Types of Mapping</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Norman distinguishes two categories of mapping. Internal mapping relates a control to another control or to an internal system state without direct reference to the physical world, for example, a scroll direction convention. External mapping relates a control directly to a real-world spatial or physical relationship, for example, a stovetop dial whose position corresponds to the physical layout of the burners.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MAPPING, PART 2</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Patterns That Create Natural Mappings</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Natural mappings are typically produced through one of three kinds of similarity between a control and its effect. Spatial similarity aligns the physical layout of controls with the physical layout of what they affect. Conceptual similarity aligns a control's design with an existing mental model the user already holds. Behavioral similarity aligns the motion or manipulation of a control with the resulting motion or change in the system, for example, turning a dial clockwise to increase a value.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NORMAN'S PRINCIPLES</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Consistency</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Similar operations should be performed in similar ways across an interface, so that skills learned in one context transfer to another.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NORMAN'S PRINCIPLES</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Affordance</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The perceived and actual properties of an object should suggest how it can be used, based on the relationship between the object's physical properties and the capabilities of the user.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A RELATED, DISTINCT CONCEPT</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Signifier</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A signifier is distinct from an affordance. An affordance is a property of an object that makes an action possible; a signifier is a perceivable signal that communicates where that action should take place or how it should be performed. An object can have an affordance without a clear signifier, in which case the possible action exists but is not communicated to the user, and vice versa.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82840"/>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F2EDE2"/>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F2EDE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14400" y="2194560"/>
            <a:ext cx="10058400" cy="2743200"/>
          </a:xfrm>
          <a:prstGeom prst="rect">
            <a:avLst/>
          </a:prstGeom>
          <a:noFill/>
        </p:spPr>
        <p:txBody>
          <a:bodyPr wrap="square" anchor="t">
            <a:spAutoFit/>
          </a:bodyPr>
          <a:lstStyle/>
          <a:p>
            <a:pPr algn="l">
              <a:lnSpc>
                <a:spcPct val="120000"/>
              </a:lnSpc>
            </a:pPr>
            <a:r>
              <a:rPr sz="3000" b="0" i="1">
                <a:solidFill>
                  <a:srgbClr val="F2EDE2"/>
                </a:solidFill>
                <a:latin typeface="Georgia"/>
              </a:rPr>
              <a:t>“A good design communicates its function through its visible structure. It provides the information necessary for its own operation, and it does not require reference to a manual.”</a:t>
            </a:r>
          </a:p>
        </p:txBody>
      </p:sp>
      <p:sp>
        <p:nvSpPr>
          <p:cNvPr id="5" name="TextBox 4"/>
          <p:cNvSpPr txBox="1"/>
          <p:nvPr/>
        </p:nvSpPr>
        <p:spPr>
          <a:xfrm>
            <a:off x="914400" y="5120640"/>
            <a:ext cx="8229600" cy="457200"/>
          </a:xfrm>
          <a:prstGeom prst="rect">
            <a:avLst/>
          </a:prstGeom>
          <a:noFill/>
        </p:spPr>
        <p:txBody>
          <a:bodyPr wrap="square" anchor="t">
            <a:spAutoFit/>
          </a:bodyPr>
          <a:lstStyle/>
          <a:p>
            <a:pPr algn="l">
              <a:lnSpc>
                <a:spcPct val="100000"/>
              </a:lnSpc>
            </a:pPr>
            <a:r>
              <a:rPr sz="1500" b="0" i="0">
                <a:solidFill>
                  <a:srgbClr val="C9DCE9"/>
                </a:solidFill>
                <a:latin typeface="Helvetica Neue"/>
              </a:rPr>
              <a:t>— Don Norman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Recap: Norman's Six Principles</a:t>
            </a:r>
          </a:p>
        </p:txBody>
      </p:sp>
      <p:sp>
        <p:nvSpPr>
          <p:cNvPr id="5" name="Rectangle 4"/>
          <p:cNvSpPr/>
          <p:nvPr/>
        </p:nvSpPr>
        <p:spPr>
          <a:xfrm>
            <a:off x="54864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44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VISIBILITY</a:t>
            </a:r>
          </a:p>
        </p:txBody>
      </p:sp>
      <p:sp>
        <p:nvSpPr>
          <p:cNvPr id="7" name="TextBox 6"/>
          <p:cNvSpPr txBox="1"/>
          <p:nvPr/>
        </p:nvSpPr>
        <p:spPr>
          <a:xfrm>
            <a:off x="72644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State and actions are perceivable.</a:t>
            </a:r>
          </a:p>
        </p:txBody>
      </p:sp>
      <p:sp>
        <p:nvSpPr>
          <p:cNvPr id="8" name="Rectangle 7"/>
          <p:cNvSpPr/>
          <p:nvPr/>
        </p:nvSpPr>
        <p:spPr>
          <a:xfrm>
            <a:off x="408432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212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FEEDBACK</a:t>
            </a:r>
          </a:p>
        </p:txBody>
      </p:sp>
      <p:sp>
        <p:nvSpPr>
          <p:cNvPr id="10" name="TextBox 9"/>
          <p:cNvSpPr txBox="1"/>
          <p:nvPr/>
        </p:nvSpPr>
        <p:spPr>
          <a:xfrm>
            <a:off x="426212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Actions produce a confirming response.</a:t>
            </a:r>
          </a:p>
        </p:txBody>
      </p:sp>
      <p:sp>
        <p:nvSpPr>
          <p:cNvPr id="11" name="Rectangle 10"/>
          <p:cNvSpPr/>
          <p:nvPr/>
        </p:nvSpPr>
        <p:spPr>
          <a:xfrm>
            <a:off x="762000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780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CONSTRAINTS</a:t>
            </a:r>
          </a:p>
        </p:txBody>
      </p:sp>
      <p:sp>
        <p:nvSpPr>
          <p:cNvPr id="13" name="TextBox 12"/>
          <p:cNvSpPr txBox="1"/>
          <p:nvPr/>
        </p:nvSpPr>
        <p:spPr>
          <a:xfrm>
            <a:off x="779780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Limits reduce the chance of error.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INTERACTION</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Recap: Norman's Six Principles, Continued</a:t>
            </a:r>
          </a:p>
        </p:txBody>
      </p:sp>
      <p:sp>
        <p:nvSpPr>
          <p:cNvPr id="5" name="Rectangle 4"/>
          <p:cNvSpPr/>
          <p:nvPr/>
        </p:nvSpPr>
        <p:spPr>
          <a:xfrm>
            <a:off x="54864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44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MAPPING</a:t>
            </a:r>
          </a:p>
        </p:txBody>
      </p:sp>
      <p:sp>
        <p:nvSpPr>
          <p:cNvPr id="7" name="TextBox 6"/>
          <p:cNvSpPr txBox="1"/>
          <p:nvPr/>
        </p:nvSpPr>
        <p:spPr>
          <a:xfrm>
            <a:off x="72644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Controls correspond to their effects.</a:t>
            </a:r>
          </a:p>
        </p:txBody>
      </p:sp>
      <p:sp>
        <p:nvSpPr>
          <p:cNvPr id="8" name="Rectangle 7"/>
          <p:cNvSpPr/>
          <p:nvPr/>
        </p:nvSpPr>
        <p:spPr>
          <a:xfrm>
            <a:off x="408432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212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CONSISTENCY</a:t>
            </a:r>
          </a:p>
        </p:txBody>
      </p:sp>
      <p:sp>
        <p:nvSpPr>
          <p:cNvPr id="10" name="TextBox 9"/>
          <p:cNvSpPr txBox="1"/>
          <p:nvPr/>
        </p:nvSpPr>
        <p:spPr>
          <a:xfrm>
            <a:off x="426212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Similar operations behave similarly.</a:t>
            </a:r>
          </a:p>
        </p:txBody>
      </p:sp>
      <p:sp>
        <p:nvSpPr>
          <p:cNvPr id="11" name="Rectangle 10"/>
          <p:cNvSpPr/>
          <p:nvPr/>
        </p:nvSpPr>
        <p:spPr>
          <a:xfrm>
            <a:off x="762000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780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AFFORDANCE</a:t>
            </a:r>
          </a:p>
        </p:txBody>
      </p:sp>
      <p:sp>
        <p:nvSpPr>
          <p:cNvPr id="13" name="TextBox 12"/>
          <p:cNvSpPr txBox="1"/>
          <p:nvPr/>
        </p:nvSpPr>
        <p:spPr>
          <a:xfrm>
            <a:off x="779780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Form suggests possible use.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82840"/>
        </a:solidFill>
        <a:effectLst/>
      </p:bgPr>
    </p:bg>
    <p:spTree>
      <p:nvGrpSpPr>
        <p:cNvPr id="1" name=""/>
        <p:cNvGrpSpPr/>
        <p:nvPr/>
      </p:nvGrpSpPr>
      <p:grpSpPr/>
      <p:sp>
        <p:nvSpPr>
          <p:cNvPr id="2" name="TextBox 1"/>
          <p:cNvSpPr txBox="1"/>
          <p:nvPr/>
        </p:nvSpPr>
        <p:spPr>
          <a:xfrm>
            <a:off x="822960" y="2834640"/>
            <a:ext cx="10515600" cy="1280160"/>
          </a:xfrm>
          <a:prstGeom prst="rect">
            <a:avLst/>
          </a:prstGeom>
          <a:noFill/>
        </p:spPr>
        <p:txBody>
          <a:bodyPr wrap="square" anchor="t">
            <a:spAutoFit/>
          </a:bodyPr>
          <a:lstStyle/>
          <a:p>
            <a:pPr algn="l">
              <a:lnSpc>
                <a:spcPct val="100000"/>
              </a:lnSpc>
            </a:pPr>
            <a:r>
              <a:rPr sz="4000" b="0" i="0">
                <a:solidFill>
                  <a:srgbClr val="F2EDE2"/>
                </a:solidFill>
                <a:latin typeface="Georgia"/>
              </a:rPr>
              <a:t>Principles of TUI</a:t>
            </a:r>
          </a:p>
        </p:txBody>
      </p:sp>
      <p:sp>
        <p:nvSpPr>
          <p:cNvPr id="3" name="TextBox 2"/>
          <p:cNvSpPr txBox="1"/>
          <p:nvPr/>
        </p:nvSpPr>
        <p:spPr>
          <a:xfrm>
            <a:off x="822960" y="3840480"/>
            <a:ext cx="9601200" cy="914400"/>
          </a:xfrm>
          <a:prstGeom prst="rect">
            <a:avLst/>
          </a:prstGeom>
          <a:noFill/>
        </p:spPr>
        <p:txBody>
          <a:bodyPr wrap="square" anchor="t">
            <a:spAutoFit/>
          </a:bodyPr>
          <a:lstStyle/>
          <a:p>
            <a:pPr algn="l">
              <a:lnSpc>
                <a:spcPct val="100000"/>
              </a:lnSpc>
            </a:pPr>
            <a:r>
              <a:rPr sz="1600" b="0" i="1">
                <a:solidFill>
                  <a:srgbClr val="C9DCE9"/>
                </a:solidFill>
                <a:latin typeface="Georgia"/>
              </a:rPr>
              <a:t>Three principles specific to tangible interaction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TUI</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Three TUI-Specific Principles</a:t>
            </a:r>
          </a:p>
        </p:txBody>
      </p:sp>
      <p:sp>
        <p:nvSpPr>
          <p:cNvPr id="5" name="Rectangle 4"/>
          <p:cNvSpPr/>
          <p:nvPr/>
        </p:nvSpPr>
        <p:spPr>
          <a:xfrm>
            <a:off x="54864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44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PHYSICAL AND DIGITAL COUPLING</a:t>
            </a:r>
          </a:p>
        </p:txBody>
      </p:sp>
      <p:sp>
        <p:nvSpPr>
          <p:cNvPr id="7" name="TextBox 6"/>
          <p:cNvSpPr txBox="1"/>
          <p:nvPr/>
        </p:nvSpPr>
        <p:spPr>
          <a:xfrm>
            <a:off x="72644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A physical action and its digital consequence occur together, and the coupling is perceivable without consulting a separate display.</a:t>
            </a:r>
          </a:p>
        </p:txBody>
      </p:sp>
      <p:sp>
        <p:nvSpPr>
          <p:cNvPr id="8" name="Rectangle 7"/>
          <p:cNvSpPr/>
          <p:nvPr/>
        </p:nvSpPr>
        <p:spPr>
          <a:xfrm>
            <a:off x="408432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212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SPATIAL REPRESENTATION</a:t>
            </a:r>
          </a:p>
        </p:txBody>
      </p:sp>
      <p:sp>
        <p:nvSpPr>
          <p:cNvPr id="10" name="TextBox 9"/>
          <p:cNvSpPr txBox="1"/>
          <p:nvPr/>
        </p:nvSpPr>
        <p:spPr>
          <a:xfrm>
            <a:off x="426212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The physical arrangement of objects in space is used to represent relationships in the underlying digital information.</a:t>
            </a:r>
          </a:p>
        </p:txBody>
      </p:sp>
      <p:sp>
        <p:nvSpPr>
          <p:cNvPr id="11" name="Rectangle 10"/>
          <p:cNvSpPr/>
          <p:nvPr/>
        </p:nvSpPr>
        <p:spPr>
          <a:xfrm>
            <a:off x="762000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780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EMBODIED INTERACTION</a:t>
            </a:r>
          </a:p>
        </p:txBody>
      </p:sp>
      <p:sp>
        <p:nvSpPr>
          <p:cNvPr id="13" name="TextBox 12"/>
          <p:cNvSpPr txBox="1"/>
          <p:nvPr/>
        </p:nvSpPr>
        <p:spPr>
          <a:xfrm>
            <a:off x="779780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Meaning and understanding of the interface arise through the user's physical engagement with it, not solely through abstract or symbolic reasoning.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TUI</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77240"/>
            <a:ext cx="10058400" cy="640080"/>
          </a:xfrm>
          <a:prstGeom prst="rect">
            <a:avLst/>
          </a:prstGeom>
          <a:noFill/>
        </p:spPr>
        <p:txBody>
          <a:bodyPr wrap="square" anchor="t">
            <a:spAutoFit/>
          </a:bodyPr>
          <a:lstStyle/>
          <a:p>
            <a:pPr algn="l">
              <a:lnSpc>
                <a:spcPct val="100000"/>
              </a:lnSpc>
            </a:pPr>
            <a:r>
              <a:rPr sz="2600" b="1" i="0">
                <a:solidFill>
                  <a:srgbClr val="1F3350"/>
                </a:solidFill>
                <a:latin typeface="Georgia"/>
              </a:rPr>
              <a:t>Comparing the Three TUI-Specific Principles</a:t>
            </a:r>
          </a:p>
        </p:txBody>
      </p:sp>
      <p:graphicFrame>
        <p:nvGraphicFramePr>
          <p:cNvPr id="5" name="Table 4"/>
          <p:cNvGraphicFramePr>
            <a:graphicFrameLocks noGrp="1"/>
          </p:cNvGraphicFramePr>
          <p:nvPr/>
        </p:nvGraphicFramePr>
        <p:xfrm>
          <a:off x="548640" y="1600200"/>
          <a:ext cx="11064240" cy="4754880"/>
        </p:xfrm>
        <a:graphic>
          <a:graphicData uri="http://schemas.openxmlformats.org/drawingml/2006/table">
            <a:tbl>
              <a:tblPr firstRow="1" bandRow="1">
                <a:tableStyleId>{5C22544A-7EE6-4342-B048-85BDC9FD1C3A}</a:tableStyleId>
              </a:tblPr>
              <a:tblGrid>
                <a:gridCol w="1737360"/>
                <a:gridCol w="2468880"/>
                <a:gridCol w="1920240"/>
                <a:gridCol w="2468880"/>
                <a:gridCol w="2468880"/>
              </a:tblGrid>
              <a:tr h="1188720">
                <a:tc>
                  <a:txBody>
                    <a:bodyPr/>
                    <a:lstStyle/>
                    <a:p>
                      <a:pPr>
                        <a:defRPr sz="1200" b="1">
                          <a:solidFill>
                            <a:srgbClr val="F2EDE2"/>
                          </a:solidFill>
                          <a:latin typeface="Helvetica Neue"/>
                        </a:defRPr>
                      </a:pPr>
                    </a:p>
                  </a:txBody>
                  <a:tcPr>
                    <a:solidFill>
                      <a:srgbClr val="1F3350"/>
                    </a:solidFill>
                  </a:tcPr>
                </a:tc>
                <a:tc>
                  <a:txBody>
                    <a:bodyPr/>
                    <a:lstStyle/>
                    <a:p>
                      <a:pPr>
                        <a:defRPr sz="1200" b="1">
                          <a:solidFill>
                            <a:srgbClr val="F2EDE2"/>
                          </a:solidFill>
                          <a:latin typeface="Helvetica Neue"/>
                        </a:defRPr>
                      </a:pPr>
                      <a:r>
                        <a:t>Core Focus</a:t>
                      </a:r>
                    </a:p>
                  </a:txBody>
                  <a:tcPr>
                    <a:solidFill>
                      <a:srgbClr val="1F3350"/>
                    </a:solidFill>
                  </a:tcPr>
                </a:tc>
                <a:tc>
                  <a:txBody>
                    <a:bodyPr/>
                    <a:lstStyle/>
                    <a:p>
                      <a:pPr>
                        <a:defRPr sz="1200" b="1">
                          <a:solidFill>
                            <a:srgbClr val="F2EDE2"/>
                          </a:solidFill>
                          <a:latin typeface="Helvetica Neue"/>
                        </a:defRPr>
                      </a:pPr>
                      <a:r>
                        <a:t>Simple Words</a:t>
                      </a:r>
                    </a:p>
                  </a:txBody>
                  <a:tcPr>
                    <a:solidFill>
                      <a:srgbClr val="1F3350"/>
                    </a:solidFill>
                  </a:tcPr>
                </a:tc>
                <a:tc>
                  <a:txBody>
                    <a:bodyPr/>
                    <a:lstStyle/>
                    <a:p>
                      <a:pPr>
                        <a:defRPr sz="1200" b="1">
                          <a:solidFill>
                            <a:srgbClr val="F2EDE2"/>
                          </a:solidFill>
                          <a:latin typeface="Helvetica Neue"/>
                        </a:defRPr>
                      </a:pPr>
                      <a:r>
                        <a:t>Everyday Example</a:t>
                      </a:r>
                    </a:p>
                  </a:txBody>
                  <a:tcPr>
                    <a:solidFill>
                      <a:srgbClr val="1F3350"/>
                    </a:solidFill>
                  </a:tcPr>
                </a:tc>
                <a:tc>
                  <a:txBody>
                    <a:bodyPr/>
                    <a:lstStyle/>
                    <a:p>
                      <a:pPr>
                        <a:defRPr sz="1200" b="1">
                          <a:solidFill>
                            <a:srgbClr val="F2EDE2"/>
                          </a:solidFill>
                          <a:latin typeface="Helvetica Neue"/>
                        </a:defRPr>
                      </a:pPr>
                      <a:r>
                        <a:t>More Example</a:t>
                      </a:r>
                    </a:p>
                  </a:txBody>
                  <a:tcPr>
                    <a:solidFill>
                      <a:srgbClr val="1F3350"/>
                    </a:solidFill>
                  </a:tcPr>
                </a:tc>
              </a:tr>
              <a:tr h="1188720">
                <a:tc>
                  <a:txBody>
                    <a:bodyPr/>
                    <a:lstStyle/>
                    <a:p>
                      <a:pPr>
                        <a:defRPr sz="1200" b="1">
                          <a:solidFill>
                            <a:srgbClr val="1F3350"/>
                          </a:solidFill>
                          <a:latin typeface="Georgia"/>
                        </a:defRPr>
                      </a:pPr>
                      <a:r>
                        <a:t>Physical and</a:t>
                      </a:r>
                    </a:p>
                    <a:p>
                      <a:pPr>
                        <a:defRPr sz="1200" b="1">
                          <a:solidFill>
                            <a:srgbClr val="1F3350"/>
                          </a:solidFill>
                          <a:latin typeface="Georgia"/>
                        </a:defRPr>
                      </a:pPr>
                      <a:r>
                        <a:t>Digital Coupling</a:t>
                      </a:r>
                    </a:p>
                  </a:txBody>
                  <a:tcPr>
                    <a:solidFill>
                      <a:srgbClr val="F5F0E6"/>
                    </a:solidFill>
                  </a:tcPr>
                </a:tc>
                <a:tc>
                  <a:txBody>
                    <a:bodyPr/>
                    <a:lstStyle/>
                    <a:p>
                      <a:pPr>
                        <a:defRPr sz="1200" b="0">
                          <a:solidFill>
                            <a:srgbClr val="2A384A"/>
                          </a:solidFill>
                          <a:latin typeface="Georgia"/>
                        </a:defRPr>
                      </a:pPr>
                      <a:r>
                        <a:t>Physical action and digital state change together</a:t>
                      </a:r>
                    </a:p>
                  </a:txBody>
                  <a:tcPr>
                    <a:solidFill>
                      <a:srgbClr val="F5F0E6"/>
                    </a:solidFill>
                  </a:tcPr>
                </a:tc>
                <a:tc>
                  <a:txBody>
                    <a:bodyPr/>
                    <a:lstStyle/>
                    <a:p>
                      <a:pPr>
                        <a:defRPr sz="1200" b="0">
                          <a:solidFill>
                            <a:srgbClr val="2A384A"/>
                          </a:solidFill>
                          <a:latin typeface="Georgia"/>
                        </a:defRPr>
                      </a:pPr>
                      <a:r>
                        <a:t>Touch it, it responds</a:t>
                      </a:r>
                    </a:p>
                  </a:txBody>
                  <a:tcPr>
                    <a:solidFill>
                      <a:srgbClr val="F5F0E6"/>
                    </a:solidFill>
                  </a:tcPr>
                </a:tc>
                <a:tc>
                  <a:txBody>
                    <a:bodyPr/>
                    <a:lstStyle/>
                    <a:p>
                      <a:pPr>
                        <a:defRPr sz="1200" b="0">
                          <a:solidFill>
                            <a:srgbClr val="2A384A"/>
                          </a:solidFill>
                          <a:latin typeface="Georgia"/>
                        </a:defRPr>
                      </a:pPr>
                      <a:r>
                        <a:t>Turning a smart thermostat dial</a:t>
                      </a:r>
                    </a:p>
                  </a:txBody>
                  <a:tcPr>
                    <a:solidFill>
                      <a:srgbClr val="F5F0E6"/>
                    </a:solidFill>
                  </a:tcPr>
                </a:tc>
                <a:tc>
                  <a:txBody>
                    <a:bodyPr/>
                    <a:lstStyle/>
                    <a:p>
                      <a:pPr>
                        <a:defRPr sz="1200" b="0">
                          <a:solidFill>
                            <a:srgbClr val="2A384A"/>
                          </a:solidFill>
                          <a:latin typeface="Georgia"/>
                        </a:defRPr>
                      </a:pPr>
                      <a:r>
                        <a:t>A Bloomwave vase reflecting a message</a:t>
                      </a:r>
                    </a:p>
                  </a:txBody>
                  <a:tcPr>
                    <a:solidFill>
                      <a:srgbClr val="F5F0E6"/>
                    </a:solidFill>
                  </a:tcPr>
                </a:tc>
              </a:tr>
              <a:tr h="1188720">
                <a:tc>
                  <a:txBody>
                    <a:bodyPr/>
                    <a:lstStyle/>
                    <a:p>
                      <a:pPr>
                        <a:defRPr sz="1200" b="1">
                          <a:solidFill>
                            <a:srgbClr val="1F3350"/>
                          </a:solidFill>
                          <a:latin typeface="Georgia"/>
                        </a:defRPr>
                      </a:pPr>
                      <a:r>
                        <a:t>Spatial</a:t>
                      </a:r>
                    </a:p>
                    <a:p>
                      <a:pPr>
                        <a:defRPr sz="1200" b="1">
                          <a:solidFill>
                            <a:srgbClr val="1F3350"/>
                          </a:solidFill>
                          <a:latin typeface="Georgia"/>
                        </a:defRPr>
                      </a:pPr>
                      <a:r>
                        <a:t>Representation</a:t>
                      </a:r>
                    </a:p>
                  </a:txBody>
                  <a:tcPr>
                    <a:solidFill>
                      <a:srgbClr val="F5F0E6"/>
                    </a:solidFill>
                  </a:tcPr>
                </a:tc>
                <a:tc>
                  <a:txBody>
                    <a:bodyPr/>
                    <a:lstStyle/>
                    <a:p>
                      <a:pPr>
                        <a:defRPr sz="1200" b="0">
                          <a:solidFill>
                            <a:srgbClr val="2A384A"/>
                          </a:solidFill>
                          <a:latin typeface="Georgia"/>
                        </a:defRPr>
                      </a:pPr>
                      <a:r>
                        <a:t>Physical arrangement encodes digital relationships</a:t>
                      </a:r>
                    </a:p>
                  </a:txBody>
                  <a:tcPr>
                    <a:solidFill>
                      <a:srgbClr val="F5F0E6"/>
                    </a:solidFill>
                  </a:tcPr>
                </a:tc>
                <a:tc>
                  <a:txBody>
                    <a:bodyPr/>
                    <a:lstStyle/>
                    <a:p>
                      <a:pPr>
                        <a:defRPr sz="1200" b="0">
                          <a:solidFill>
                            <a:srgbClr val="2A384A"/>
                          </a:solidFill>
                          <a:latin typeface="Georgia"/>
                        </a:defRPr>
                      </a:pPr>
                      <a:r>
                        <a:t>Position carries meaning</a:t>
                      </a:r>
                    </a:p>
                  </a:txBody>
                  <a:tcPr>
                    <a:solidFill>
                      <a:srgbClr val="F5F0E6"/>
                    </a:solidFill>
                  </a:tcPr>
                </a:tc>
                <a:tc>
                  <a:txBody>
                    <a:bodyPr/>
                    <a:lstStyle/>
                    <a:p>
                      <a:pPr>
                        <a:defRPr sz="1200" b="0">
                          <a:solidFill>
                            <a:srgbClr val="2A384A"/>
                          </a:solidFill>
                          <a:latin typeface="Georgia"/>
                        </a:defRPr>
                      </a:pPr>
                      <a:r>
                        <a:t>Arranging sticky notes on a board</a:t>
                      </a:r>
                    </a:p>
                  </a:txBody>
                  <a:tcPr>
                    <a:solidFill>
                      <a:srgbClr val="F5F0E6"/>
                    </a:solidFill>
                  </a:tcPr>
                </a:tc>
                <a:tc>
                  <a:txBody>
                    <a:bodyPr/>
                    <a:lstStyle/>
                    <a:p>
                      <a:pPr>
                        <a:defRPr sz="1200" b="0">
                          <a:solidFill>
                            <a:srgbClr val="2A384A"/>
                          </a:solidFill>
                          <a:latin typeface="Georgia"/>
                        </a:defRPr>
                      </a:pPr>
                      <a:r>
                        <a:t>A tabletop system where object position sets a value</a:t>
                      </a:r>
                    </a:p>
                  </a:txBody>
                  <a:tcPr>
                    <a:solidFill>
                      <a:srgbClr val="F5F0E6"/>
                    </a:solidFill>
                  </a:tcPr>
                </a:tc>
              </a:tr>
              <a:tr h="1188720">
                <a:tc>
                  <a:txBody>
                    <a:bodyPr/>
                    <a:lstStyle/>
                    <a:p>
                      <a:pPr>
                        <a:defRPr sz="1200" b="1">
                          <a:solidFill>
                            <a:srgbClr val="1F3350"/>
                          </a:solidFill>
                          <a:latin typeface="Georgia"/>
                        </a:defRPr>
                      </a:pPr>
                      <a:r>
                        <a:t>Embodied</a:t>
                      </a:r>
                    </a:p>
                    <a:p>
                      <a:pPr>
                        <a:defRPr sz="1200" b="1">
                          <a:solidFill>
                            <a:srgbClr val="1F3350"/>
                          </a:solidFill>
                          <a:latin typeface="Georgia"/>
                        </a:defRPr>
                      </a:pPr>
                      <a:r>
                        <a:t>Interaction</a:t>
                      </a:r>
                    </a:p>
                  </a:txBody>
                  <a:tcPr>
                    <a:solidFill>
                      <a:srgbClr val="F5F0E6"/>
                    </a:solidFill>
                  </a:tcPr>
                </a:tc>
                <a:tc>
                  <a:txBody>
                    <a:bodyPr/>
                    <a:lstStyle/>
                    <a:p>
                      <a:pPr>
                        <a:defRPr sz="1200" b="0">
                          <a:solidFill>
                            <a:srgbClr val="2A384A"/>
                          </a:solidFill>
                          <a:latin typeface="Georgia"/>
                        </a:defRPr>
                      </a:pPr>
                      <a:r>
                        <a:t>Understanding arises through physical engagement</a:t>
                      </a:r>
                    </a:p>
                  </a:txBody>
                  <a:tcPr>
                    <a:solidFill>
                      <a:srgbClr val="F5F0E6"/>
                    </a:solidFill>
                  </a:tcPr>
                </a:tc>
                <a:tc>
                  <a:txBody>
                    <a:bodyPr/>
                    <a:lstStyle/>
                    <a:p>
                      <a:pPr>
                        <a:defRPr sz="1200" b="0">
                          <a:solidFill>
                            <a:srgbClr val="2A384A"/>
                          </a:solidFill>
                          <a:latin typeface="Georgia"/>
                        </a:defRPr>
                      </a:pPr>
                      <a:r>
                        <a:t>Learning by doing, with the body</a:t>
                      </a:r>
                    </a:p>
                  </a:txBody>
                  <a:tcPr>
                    <a:solidFill>
                      <a:srgbClr val="F5F0E6"/>
                    </a:solidFill>
                  </a:tcPr>
                </a:tc>
                <a:tc>
                  <a:txBody>
                    <a:bodyPr/>
                    <a:lstStyle/>
                    <a:p>
                      <a:pPr>
                        <a:defRPr sz="1200" b="0">
                          <a:solidFill>
                            <a:srgbClr val="2A384A"/>
                          </a:solidFill>
                          <a:latin typeface="Georgia"/>
                        </a:defRPr>
                      </a:pPr>
                      <a:r>
                        <a:t>Learning to ride a bicycle</a:t>
                      </a:r>
                    </a:p>
                  </a:txBody>
                  <a:tcPr>
                    <a:solidFill>
                      <a:srgbClr val="F5F0E6"/>
                    </a:solidFill>
                  </a:tcPr>
                </a:tc>
                <a:tc>
                  <a:txBody>
                    <a:bodyPr/>
                    <a:lstStyle/>
                    <a:p>
                      <a:pPr>
                        <a:defRPr sz="1200" b="0">
                          <a:solidFill>
                            <a:srgbClr val="2A384A"/>
                          </a:solidFill>
                          <a:latin typeface="Georgia"/>
                        </a:defRPr>
                      </a:pPr>
                      <a:r>
                        <a:t>Manipulating a physical model to understand a spatial concept</a:t>
                      </a:r>
                    </a:p>
                  </a:txBody>
                  <a:tcPr>
                    <a:solidFill>
                      <a:srgbClr val="F5F0E6"/>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PRINCIPLES OF TUI</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TUI-SPECIFIC PRINCIPLE</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Physical and Digital Coupling</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Physical and digital coupling means that a user's physical action on an object and the resulting change in digital state occur as a single, perceivable event, without requiring the user to consult a separate screen. This is the property that most directly distinguishes a tangible interface from an interface that merely uses a physical object as a remote control for a screen-based display.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82840"/>
        </a:solidFill>
        <a:effectLst/>
      </p:bgPr>
    </p:bg>
    <p:spTree>
      <p:nvGrpSpPr>
        <p:cNvPr id="1" name=""/>
        <p:cNvGrpSpPr/>
        <p:nvPr/>
      </p:nvGrpSpPr>
      <p:grpSpPr/>
      <p:sp>
        <p:nvSpPr>
          <p:cNvPr id="2" name="TextBox 1"/>
          <p:cNvSpPr txBox="1"/>
          <p:nvPr/>
        </p:nvSpPr>
        <p:spPr>
          <a:xfrm>
            <a:off x="822960" y="2834640"/>
            <a:ext cx="10515600" cy="1280160"/>
          </a:xfrm>
          <a:prstGeom prst="rect">
            <a:avLst/>
          </a:prstGeom>
          <a:noFill/>
        </p:spPr>
        <p:txBody>
          <a:bodyPr wrap="square" anchor="t">
            <a:spAutoFit/>
          </a:bodyPr>
          <a:lstStyle/>
          <a:p>
            <a:pPr algn="l">
              <a:lnSpc>
                <a:spcPct val="100000"/>
              </a:lnSpc>
            </a:pPr>
            <a:r>
              <a:rPr sz="4000" b="0" i="0">
                <a:solidFill>
                  <a:srgbClr val="F2EDE2"/>
                </a:solidFill>
                <a:latin typeface="Georgia"/>
              </a:rPr>
              <a:t>Houde and Hill's Triangle</a:t>
            </a:r>
          </a:p>
        </p:txBody>
      </p:sp>
      <p:sp>
        <p:nvSpPr>
          <p:cNvPr id="3" name="TextBox 2"/>
          <p:cNvSpPr txBox="1"/>
          <p:nvPr/>
        </p:nvSpPr>
        <p:spPr>
          <a:xfrm>
            <a:off x="822960" y="3840480"/>
            <a:ext cx="9601200" cy="914400"/>
          </a:xfrm>
          <a:prstGeom prst="rect">
            <a:avLst/>
          </a:prstGeom>
          <a:noFill/>
        </p:spPr>
        <p:txBody>
          <a:bodyPr wrap="square" anchor="t">
            <a:spAutoFit/>
          </a:bodyPr>
          <a:lstStyle/>
          <a:p>
            <a:pPr algn="l">
              <a:lnSpc>
                <a:spcPct val="100000"/>
              </a:lnSpc>
            </a:pPr>
            <a:r>
              <a:rPr sz="1600" b="0" i="1">
                <a:solidFill>
                  <a:srgbClr val="C9DCE9"/>
                </a:solidFill>
                <a:latin typeface="Georgia"/>
              </a:rPr>
              <a:t>A framework for deciding what a prototype is for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HOUDE AND HILL'S TRIANGLE</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14400" y="2194560"/>
            <a:ext cx="10058400" cy="2743200"/>
          </a:xfrm>
          <a:prstGeom prst="rect">
            <a:avLst/>
          </a:prstGeom>
          <a:noFill/>
        </p:spPr>
        <p:txBody>
          <a:bodyPr wrap="square" anchor="t">
            <a:spAutoFit/>
          </a:bodyPr>
          <a:lstStyle/>
          <a:p>
            <a:pPr algn="l">
              <a:lnSpc>
                <a:spcPct val="120000"/>
              </a:lnSpc>
            </a:pPr>
            <a:r>
              <a:rPr sz="3000" b="0" i="1">
                <a:solidFill>
                  <a:srgbClr val="1F3350"/>
                </a:solidFill>
                <a:latin typeface="Georgia"/>
              </a:rPr>
              <a:t>“Selecting the focus of a prototype is the art of identifying the most important open design questions.”</a:t>
            </a:r>
          </a:p>
        </p:txBody>
      </p:sp>
      <p:sp>
        <p:nvSpPr>
          <p:cNvPr id="5" name="TextBox 4"/>
          <p:cNvSpPr txBox="1"/>
          <p:nvPr/>
        </p:nvSpPr>
        <p:spPr>
          <a:xfrm>
            <a:off x="914400" y="5120640"/>
            <a:ext cx="8229600" cy="457200"/>
          </a:xfrm>
          <a:prstGeom prst="rect">
            <a:avLst/>
          </a:prstGeom>
          <a:noFill/>
        </p:spPr>
        <p:txBody>
          <a:bodyPr wrap="square" anchor="t">
            <a:spAutoFit/>
          </a:bodyPr>
          <a:lstStyle/>
          <a:p>
            <a:pPr algn="l">
              <a:lnSpc>
                <a:spcPct val="100000"/>
              </a:lnSpc>
            </a:pPr>
            <a:r>
              <a:rPr sz="1500" b="0" i="0">
                <a:solidFill>
                  <a:srgbClr val="1F3350"/>
                </a:solidFill>
                <a:latin typeface="Helvetica Neue"/>
              </a:rPr>
              <a:t>— Houde and Hill, 1997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HOUDE AND HILL'S TRIANGLE</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The Three Prototype Dimensions</a:t>
            </a:r>
          </a:p>
        </p:txBody>
      </p:sp>
      <p:cxnSp>
        <p:nvCxnSpPr>
          <p:cNvPr id="5" name="Connector 4"/>
          <p:cNvCxnSpPr/>
          <p:nvPr/>
        </p:nvCxnSpPr>
        <p:spPr>
          <a:xfrm flipH="1">
            <a:off x="3291840" y="1828800"/>
            <a:ext cx="2377440" cy="2377440"/>
          </a:xfrm>
          <a:prstGeom prst="line">
            <a:avLst/>
          </a:prstGeom>
          <a:ln w="15875">
            <a:solidFill>
              <a:srgbClr val="1F335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669280" y="1828800"/>
            <a:ext cx="1280160" cy="3108960"/>
          </a:xfrm>
          <a:prstGeom prst="line">
            <a:avLst/>
          </a:prstGeom>
          <a:ln w="15875">
            <a:solidFill>
              <a:srgbClr val="1F335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91840" y="4206240"/>
            <a:ext cx="3657600" cy="731520"/>
          </a:xfrm>
          <a:prstGeom prst="line">
            <a:avLst/>
          </a:prstGeom>
          <a:ln w="15875">
            <a:solidFill>
              <a:srgbClr val="1F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614416" y="1773936"/>
            <a:ext cx="109728" cy="109728"/>
          </a:xfrm>
          <a:prstGeom prst="ellipse">
            <a:avLst/>
          </a:prstGeom>
          <a:solidFill>
            <a:srgbClr val="1F3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236976" y="4151376"/>
            <a:ext cx="109728" cy="109728"/>
          </a:xfrm>
          <a:prstGeom prst="ellipse">
            <a:avLst/>
          </a:prstGeom>
          <a:solidFill>
            <a:srgbClr val="1F3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894576" y="4882896"/>
            <a:ext cx="109728" cy="109728"/>
          </a:xfrm>
          <a:prstGeom prst="ellipse">
            <a:avLst/>
          </a:prstGeom>
          <a:solidFill>
            <a:srgbClr val="1F3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1325880"/>
            <a:ext cx="2011680" cy="365760"/>
          </a:xfrm>
          <a:prstGeom prst="rect">
            <a:avLst/>
          </a:prstGeom>
          <a:noFill/>
        </p:spPr>
        <p:txBody>
          <a:bodyPr wrap="square" anchor="t">
            <a:spAutoFit/>
          </a:bodyPr>
          <a:lstStyle/>
          <a:p>
            <a:pPr algn="l">
              <a:lnSpc>
                <a:spcPct val="100000"/>
              </a:lnSpc>
            </a:pPr>
            <a:r>
              <a:rPr sz="1700" b="1" i="0">
                <a:solidFill>
                  <a:srgbClr val="1F3350"/>
                </a:solidFill>
                <a:latin typeface="Georgia"/>
              </a:rPr>
              <a:t>Role</a:t>
            </a:r>
          </a:p>
        </p:txBody>
      </p:sp>
      <p:sp>
        <p:nvSpPr>
          <p:cNvPr id="12" name="TextBox 11"/>
          <p:cNvSpPr txBox="1"/>
          <p:nvPr/>
        </p:nvSpPr>
        <p:spPr>
          <a:xfrm>
            <a:off x="1554480" y="4096511"/>
            <a:ext cx="2011680" cy="365760"/>
          </a:xfrm>
          <a:prstGeom prst="rect">
            <a:avLst/>
          </a:prstGeom>
          <a:noFill/>
        </p:spPr>
        <p:txBody>
          <a:bodyPr wrap="square" anchor="t">
            <a:spAutoFit/>
          </a:bodyPr>
          <a:lstStyle/>
          <a:p>
            <a:pPr algn="l">
              <a:lnSpc>
                <a:spcPct val="100000"/>
              </a:lnSpc>
            </a:pPr>
            <a:r>
              <a:rPr sz="1700" b="1" i="0">
                <a:solidFill>
                  <a:srgbClr val="1F3350"/>
                </a:solidFill>
                <a:latin typeface="Georgia"/>
              </a:rPr>
              <a:t>Implementation</a:t>
            </a:r>
          </a:p>
        </p:txBody>
      </p:sp>
      <p:sp>
        <p:nvSpPr>
          <p:cNvPr id="13" name="TextBox 12"/>
          <p:cNvSpPr txBox="1"/>
          <p:nvPr/>
        </p:nvSpPr>
        <p:spPr>
          <a:xfrm>
            <a:off x="7086600" y="4828032"/>
            <a:ext cx="2011680" cy="365760"/>
          </a:xfrm>
          <a:prstGeom prst="rect">
            <a:avLst/>
          </a:prstGeom>
          <a:noFill/>
        </p:spPr>
        <p:txBody>
          <a:bodyPr wrap="square" anchor="t">
            <a:spAutoFit/>
          </a:bodyPr>
          <a:lstStyle/>
          <a:p>
            <a:pPr algn="l">
              <a:lnSpc>
                <a:spcPct val="100000"/>
              </a:lnSpc>
            </a:pPr>
            <a:r>
              <a:rPr sz="1700" b="1" i="0">
                <a:solidFill>
                  <a:srgbClr val="1F3350"/>
                </a:solidFill>
                <a:latin typeface="Georgia"/>
              </a:rPr>
              <a:t>Look and Feel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HOUDE AND HILL'S TRIANGLE</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777240"/>
            <a:ext cx="10058400" cy="640080"/>
          </a:xfrm>
          <a:prstGeom prst="rect">
            <a:avLst/>
          </a:prstGeom>
          <a:noFill/>
        </p:spPr>
        <p:txBody>
          <a:bodyPr wrap="square" anchor="t">
            <a:spAutoFit/>
          </a:bodyPr>
          <a:lstStyle/>
          <a:p>
            <a:pPr algn="l">
              <a:lnSpc>
                <a:spcPct val="100000"/>
              </a:lnSpc>
            </a:pPr>
            <a:r>
              <a:rPr sz="2600" b="1" i="0">
                <a:solidFill>
                  <a:srgbClr val="1F3350"/>
                </a:solidFill>
                <a:latin typeface="Georgia"/>
              </a:rPr>
              <a:t>The Three Dimensions, Defined</a:t>
            </a:r>
          </a:p>
        </p:txBody>
      </p:sp>
      <p:graphicFrame>
        <p:nvGraphicFramePr>
          <p:cNvPr id="5" name="Table 4"/>
          <p:cNvGraphicFramePr>
            <a:graphicFrameLocks noGrp="1"/>
          </p:cNvGraphicFramePr>
          <p:nvPr/>
        </p:nvGraphicFramePr>
        <p:xfrm>
          <a:off x="548640" y="1600200"/>
          <a:ext cx="11064240" cy="4754880"/>
        </p:xfrm>
        <a:graphic>
          <a:graphicData uri="http://schemas.openxmlformats.org/drawingml/2006/table">
            <a:tbl>
              <a:tblPr firstRow="1" bandRow="1">
                <a:tableStyleId>{5C22544A-7EE6-4342-B048-85BDC9FD1C3A}</a:tableStyleId>
              </a:tblPr>
              <a:tblGrid>
                <a:gridCol w="2103120"/>
                <a:gridCol w="5029200"/>
                <a:gridCol w="3931920"/>
              </a:tblGrid>
              <a:tr h="1188720">
                <a:tc>
                  <a:txBody>
                    <a:bodyPr/>
                    <a:lstStyle/>
                    <a:p>
                      <a:pPr>
                        <a:defRPr sz="1200" b="1">
                          <a:solidFill>
                            <a:srgbClr val="F2EDE2"/>
                          </a:solidFill>
                          <a:latin typeface="Helvetica Neue"/>
                        </a:defRPr>
                      </a:pPr>
                      <a:r>
                        <a:t>Dimension</a:t>
                      </a:r>
                    </a:p>
                  </a:txBody>
                  <a:tcPr>
                    <a:solidFill>
                      <a:srgbClr val="1F3350"/>
                    </a:solidFill>
                  </a:tcPr>
                </a:tc>
                <a:tc>
                  <a:txBody>
                    <a:bodyPr/>
                    <a:lstStyle/>
                    <a:p>
                      <a:pPr>
                        <a:defRPr sz="1200" b="1">
                          <a:solidFill>
                            <a:srgbClr val="F2EDE2"/>
                          </a:solidFill>
                          <a:latin typeface="Helvetica Neue"/>
                        </a:defRPr>
                      </a:pPr>
                      <a:r>
                        <a:t>Question It Answers</a:t>
                      </a:r>
                    </a:p>
                  </a:txBody>
                  <a:tcPr>
                    <a:solidFill>
                      <a:srgbClr val="1F3350"/>
                    </a:solidFill>
                  </a:tcPr>
                </a:tc>
                <a:tc>
                  <a:txBody>
                    <a:bodyPr/>
                    <a:lstStyle/>
                    <a:p>
                      <a:pPr>
                        <a:defRPr sz="1200" b="1">
                          <a:solidFill>
                            <a:srgbClr val="F2EDE2"/>
                          </a:solidFill>
                          <a:latin typeface="Helvetica Neue"/>
                        </a:defRPr>
                      </a:pPr>
                      <a:r>
                        <a:t>Example</a:t>
                      </a:r>
                    </a:p>
                  </a:txBody>
                  <a:tcPr>
                    <a:solidFill>
                      <a:srgbClr val="1F3350"/>
                    </a:solidFill>
                  </a:tcPr>
                </a:tc>
              </a:tr>
              <a:tr h="1188720">
                <a:tc>
                  <a:txBody>
                    <a:bodyPr/>
                    <a:lstStyle/>
                    <a:p>
                      <a:pPr>
                        <a:defRPr sz="1200" b="1">
                          <a:solidFill>
                            <a:srgbClr val="1F3350"/>
                          </a:solidFill>
                          <a:latin typeface="Georgia"/>
                        </a:defRPr>
                      </a:pPr>
                      <a:r>
                        <a:t>Role</a:t>
                      </a:r>
                    </a:p>
                  </a:txBody>
                  <a:tcPr>
                    <a:solidFill>
                      <a:srgbClr val="F5F0E6"/>
                    </a:solidFill>
                  </a:tcPr>
                </a:tc>
                <a:tc>
                  <a:txBody>
                    <a:bodyPr/>
                    <a:lstStyle/>
                    <a:p>
                      <a:pPr>
                        <a:defRPr sz="1200" b="0">
                          <a:solidFill>
                            <a:srgbClr val="2A384A"/>
                          </a:solidFill>
                          <a:latin typeface="Georgia"/>
                        </a:defRPr>
                      </a:pPr>
                      <a:r>
                        <a:t>What the artifact does in a user's life; its purpose or value.</a:t>
                      </a:r>
                    </a:p>
                  </a:txBody>
                  <a:tcPr>
                    <a:solidFill>
                      <a:srgbClr val="F5F0E6"/>
                    </a:solidFill>
                  </a:tcPr>
                </a:tc>
                <a:tc>
                  <a:txBody>
                    <a:bodyPr/>
                    <a:lstStyle/>
                    <a:p>
                      <a:pPr>
                        <a:defRPr sz="1200" b="0">
                          <a:solidFill>
                            <a:srgbClr val="2A384A"/>
                          </a:solidFill>
                          <a:latin typeface="Georgia"/>
                        </a:defRPr>
                      </a:pPr>
                      <a:r>
                        <a:t>Is this object for recording, controlling, or reminding?</a:t>
                      </a:r>
                    </a:p>
                  </a:txBody>
                  <a:tcPr>
                    <a:solidFill>
                      <a:srgbClr val="F5F0E6"/>
                    </a:solidFill>
                  </a:tcPr>
                </a:tc>
              </a:tr>
              <a:tr h="1188720">
                <a:tc>
                  <a:txBody>
                    <a:bodyPr/>
                    <a:lstStyle/>
                    <a:p>
                      <a:pPr>
                        <a:defRPr sz="1200" b="1">
                          <a:solidFill>
                            <a:srgbClr val="1F3350"/>
                          </a:solidFill>
                          <a:latin typeface="Georgia"/>
                        </a:defRPr>
                      </a:pPr>
                      <a:r>
                        <a:t>Look and Feel</a:t>
                      </a:r>
                    </a:p>
                  </a:txBody>
                  <a:tcPr>
                    <a:solidFill>
                      <a:srgbClr val="F5F0E6"/>
                    </a:solidFill>
                  </a:tcPr>
                </a:tc>
                <a:tc>
                  <a:txBody>
                    <a:bodyPr/>
                    <a:lstStyle/>
                    <a:p>
                      <a:pPr>
                        <a:defRPr sz="1200" b="0">
                          <a:solidFill>
                            <a:srgbClr val="2A384A"/>
                          </a:solidFill>
                          <a:latin typeface="Georgia"/>
                        </a:defRPr>
                      </a:pPr>
                      <a:r>
                        <a:t>What it looks like, feels like, or sounds like; the sensory and emotional experience.</a:t>
                      </a:r>
                    </a:p>
                  </a:txBody>
                  <a:tcPr>
                    <a:solidFill>
                      <a:srgbClr val="F5F0E6"/>
                    </a:solidFill>
                  </a:tcPr>
                </a:tc>
                <a:tc>
                  <a:txBody>
                    <a:bodyPr/>
                    <a:lstStyle/>
                    <a:p>
                      <a:pPr>
                        <a:defRPr sz="1200" b="0">
                          <a:solidFill>
                            <a:srgbClr val="2A384A"/>
                          </a:solidFill>
                          <a:latin typeface="Georgia"/>
                        </a:defRPr>
                      </a:pPr>
                      <a:r>
                        <a:t>How does this object invite touch, gesture, or attention?</a:t>
                      </a:r>
                    </a:p>
                  </a:txBody>
                  <a:tcPr>
                    <a:solidFill>
                      <a:srgbClr val="F5F0E6"/>
                    </a:solidFill>
                  </a:tcPr>
                </a:tc>
              </a:tr>
              <a:tr h="1188720">
                <a:tc>
                  <a:txBody>
                    <a:bodyPr/>
                    <a:lstStyle/>
                    <a:p>
                      <a:pPr>
                        <a:defRPr sz="1200" b="1">
                          <a:solidFill>
                            <a:srgbClr val="1F3350"/>
                          </a:solidFill>
                          <a:latin typeface="Georgia"/>
                        </a:defRPr>
                      </a:pPr>
                      <a:r>
                        <a:t>Implementation</a:t>
                      </a:r>
                    </a:p>
                  </a:txBody>
                  <a:tcPr>
                    <a:solidFill>
                      <a:srgbClr val="F5F0E6"/>
                    </a:solidFill>
                  </a:tcPr>
                </a:tc>
                <a:tc>
                  <a:txBody>
                    <a:bodyPr/>
                    <a:lstStyle/>
                    <a:p>
                      <a:pPr>
                        <a:defRPr sz="1200" b="0">
                          <a:solidFill>
                            <a:srgbClr val="2A384A"/>
                          </a:solidFill>
                          <a:latin typeface="Georgia"/>
                        </a:defRPr>
                      </a:pPr>
                      <a:r>
                        <a:t>How it works technically; the underlying mechanism or technology.</a:t>
                      </a:r>
                    </a:p>
                  </a:txBody>
                  <a:tcPr>
                    <a:solidFill>
                      <a:srgbClr val="F5F0E6"/>
                    </a:solidFill>
                  </a:tcPr>
                </a:tc>
                <a:tc>
                  <a:txBody>
                    <a:bodyPr/>
                    <a:lstStyle/>
                    <a:p>
                      <a:pPr>
                        <a:defRPr sz="1200" b="0">
                          <a:solidFill>
                            <a:srgbClr val="2A384A"/>
                          </a:solidFill>
                          <a:latin typeface="Georgia"/>
                        </a:defRPr>
                      </a:pPr>
                      <a:r>
                        <a:t>What sensors, circuits, or materials make this possible?</a:t>
                      </a:r>
                    </a:p>
                  </a:txBody>
                  <a:tcPr>
                    <a:solidFill>
                      <a:srgbClr val="F5F0E6"/>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HOUDE AND HILL'S TRIANGLE</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WORKED EXAMPLE</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Prototyping for Role</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A prototype built to test Role isolates the question of purpose or value from questions of appearance or technical implementation. For example, a rough prototype of a voice-based home assistant, built without attention to its physical form or underlying technology, can still be used to test whether the assistant is useful in a person's daily life.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HOUDE AND HILL'S TRIANGLE</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Integration Prototypes</a:t>
            </a:r>
          </a:p>
        </p:txBody>
      </p:sp>
      <p:cxnSp>
        <p:nvCxnSpPr>
          <p:cNvPr id="5" name="Connector 4"/>
          <p:cNvCxnSpPr/>
          <p:nvPr/>
        </p:nvCxnSpPr>
        <p:spPr>
          <a:xfrm flipH="1">
            <a:off x="3291840" y="1828800"/>
            <a:ext cx="2377440" cy="2377440"/>
          </a:xfrm>
          <a:prstGeom prst="line">
            <a:avLst/>
          </a:prstGeom>
          <a:ln w="15875">
            <a:solidFill>
              <a:srgbClr val="1F335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669280" y="1828800"/>
            <a:ext cx="1280160" cy="3108960"/>
          </a:xfrm>
          <a:prstGeom prst="line">
            <a:avLst/>
          </a:prstGeom>
          <a:ln w="15875">
            <a:solidFill>
              <a:srgbClr val="1F335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91840" y="4206240"/>
            <a:ext cx="3657600" cy="731520"/>
          </a:xfrm>
          <a:prstGeom prst="line">
            <a:avLst/>
          </a:prstGeom>
          <a:ln w="15875">
            <a:solidFill>
              <a:srgbClr val="1F335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614416" y="1773936"/>
            <a:ext cx="109728" cy="109728"/>
          </a:xfrm>
          <a:prstGeom prst="ellipse">
            <a:avLst/>
          </a:prstGeom>
          <a:solidFill>
            <a:srgbClr val="1F3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236976" y="4151376"/>
            <a:ext cx="109728" cy="109728"/>
          </a:xfrm>
          <a:prstGeom prst="ellipse">
            <a:avLst/>
          </a:prstGeom>
          <a:solidFill>
            <a:srgbClr val="1F3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894576" y="4882896"/>
            <a:ext cx="109728" cy="109728"/>
          </a:xfrm>
          <a:prstGeom prst="ellipse">
            <a:avLst/>
          </a:prstGeom>
          <a:solidFill>
            <a:srgbClr val="1F3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1325880"/>
            <a:ext cx="2011680" cy="365760"/>
          </a:xfrm>
          <a:prstGeom prst="rect">
            <a:avLst/>
          </a:prstGeom>
          <a:noFill/>
        </p:spPr>
        <p:txBody>
          <a:bodyPr wrap="square" anchor="t">
            <a:spAutoFit/>
          </a:bodyPr>
          <a:lstStyle/>
          <a:p>
            <a:pPr algn="l">
              <a:lnSpc>
                <a:spcPct val="100000"/>
              </a:lnSpc>
            </a:pPr>
            <a:r>
              <a:rPr sz="1700" b="1" i="0">
                <a:solidFill>
                  <a:srgbClr val="1F3350"/>
                </a:solidFill>
                <a:latin typeface="Georgia"/>
              </a:rPr>
              <a:t>Role</a:t>
            </a:r>
          </a:p>
        </p:txBody>
      </p:sp>
      <p:sp>
        <p:nvSpPr>
          <p:cNvPr id="12" name="TextBox 11"/>
          <p:cNvSpPr txBox="1"/>
          <p:nvPr/>
        </p:nvSpPr>
        <p:spPr>
          <a:xfrm>
            <a:off x="1554480" y="4096511"/>
            <a:ext cx="2011680" cy="365760"/>
          </a:xfrm>
          <a:prstGeom prst="rect">
            <a:avLst/>
          </a:prstGeom>
          <a:noFill/>
        </p:spPr>
        <p:txBody>
          <a:bodyPr wrap="square" anchor="t">
            <a:spAutoFit/>
          </a:bodyPr>
          <a:lstStyle/>
          <a:p>
            <a:pPr algn="l">
              <a:lnSpc>
                <a:spcPct val="100000"/>
              </a:lnSpc>
            </a:pPr>
            <a:r>
              <a:rPr sz="1700" b="1" i="0">
                <a:solidFill>
                  <a:srgbClr val="1F3350"/>
                </a:solidFill>
                <a:latin typeface="Georgia"/>
              </a:rPr>
              <a:t>Implementation</a:t>
            </a:r>
          </a:p>
        </p:txBody>
      </p:sp>
      <p:sp>
        <p:nvSpPr>
          <p:cNvPr id="13" name="TextBox 12"/>
          <p:cNvSpPr txBox="1"/>
          <p:nvPr/>
        </p:nvSpPr>
        <p:spPr>
          <a:xfrm>
            <a:off x="7086600" y="4828032"/>
            <a:ext cx="2011680" cy="365760"/>
          </a:xfrm>
          <a:prstGeom prst="rect">
            <a:avLst/>
          </a:prstGeom>
          <a:noFill/>
        </p:spPr>
        <p:txBody>
          <a:bodyPr wrap="square" anchor="t">
            <a:spAutoFit/>
          </a:bodyPr>
          <a:lstStyle/>
          <a:p>
            <a:pPr algn="l">
              <a:lnSpc>
                <a:spcPct val="100000"/>
              </a:lnSpc>
            </a:pPr>
            <a:r>
              <a:rPr sz="1700" b="1" i="0">
                <a:solidFill>
                  <a:srgbClr val="1F3350"/>
                </a:solidFill>
                <a:latin typeface="Georgia"/>
              </a:rPr>
              <a:t>Look and Feel</a:t>
            </a:r>
          </a:p>
        </p:txBody>
      </p:sp>
      <p:sp>
        <p:nvSpPr>
          <p:cNvPr id="14" name="TextBox 13"/>
          <p:cNvSpPr txBox="1"/>
          <p:nvPr/>
        </p:nvSpPr>
        <p:spPr>
          <a:xfrm>
            <a:off x="7863840" y="2880360"/>
            <a:ext cx="3840480" cy="365760"/>
          </a:xfrm>
          <a:prstGeom prst="rect">
            <a:avLst/>
          </a:prstGeom>
          <a:noFill/>
        </p:spPr>
        <p:txBody>
          <a:bodyPr wrap="square" anchor="t">
            <a:spAutoFit/>
          </a:bodyPr>
          <a:lstStyle/>
          <a:p>
            <a:pPr algn="l">
              <a:lnSpc>
                <a:spcPct val="100000"/>
              </a:lnSpc>
            </a:pPr>
            <a:r>
              <a:rPr sz="1700" b="1" i="0">
                <a:solidFill>
                  <a:srgbClr val="1F3350"/>
                </a:solidFill>
                <a:latin typeface="Georgia"/>
              </a:rPr>
              <a:t>Integration</a:t>
            </a:r>
          </a:p>
        </p:txBody>
      </p:sp>
      <p:sp>
        <p:nvSpPr>
          <p:cNvPr id="15" name="TextBox 14"/>
          <p:cNvSpPr txBox="1"/>
          <p:nvPr/>
        </p:nvSpPr>
        <p:spPr>
          <a:xfrm>
            <a:off x="7863840" y="3291839"/>
            <a:ext cx="3840480" cy="1828800"/>
          </a:xfrm>
          <a:prstGeom prst="rect">
            <a:avLst/>
          </a:prstGeom>
          <a:noFill/>
        </p:spPr>
        <p:txBody>
          <a:bodyPr wrap="square" anchor="t">
            <a:spAutoFit/>
          </a:bodyPr>
          <a:lstStyle/>
          <a:p>
            <a:pPr algn="l">
              <a:lnSpc>
                <a:spcPct val="120000"/>
              </a:lnSpc>
            </a:pPr>
            <a:r>
              <a:rPr sz="1350" b="0" i="0">
                <a:solidFill>
                  <a:srgbClr val="2A384A"/>
                </a:solidFill>
                <a:latin typeface="Georgia"/>
              </a:rPr>
              <a:t>An integration prototype is built to represent the complete user experience across all three dimensions at once, and to simulate the final artifact as closely as possible. Integration prototypes are typically built later in a design process, once each dimension has been separately explored and resolved.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HOUDE AND HILL'S TRIANGLE</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457200"/>
            <a:ext cx="7315200" cy="365760"/>
          </a:xfrm>
          <a:prstGeom prst="rect">
            <a:avLst/>
          </a:prstGeom>
          <a:noFill/>
        </p:spPr>
        <p:txBody>
          <a:bodyPr wrap="square" anchor="t">
            <a:spAutoFit/>
          </a:bodyPr>
          <a:lstStyle/>
          <a:p>
            <a:pPr algn="l">
              <a:lnSpc>
                <a:spcPct val="100000"/>
              </a:lnSpc>
            </a:pPr>
            <a:r>
              <a:rPr sz="1300" b="1" i="0">
                <a:solidFill>
                  <a:srgbClr val="1F3350"/>
                </a:solidFill>
                <a:latin typeface="Helvetica Neue"/>
              </a:rPr>
              <a:t>WHY THE FRAMEWORK IS USEFUL</a:t>
            </a:r>
          </a:p>
        </p:txBody>
      </p:sp>
      <p:sp>
        <p:nvSpPr>
          <p:cNvPr id="5" name="TextBox 4"/>
          <p:cNvSpPr txBox="1"/>
          <p:nvPr/>
        </p:nvSpPr>
        <p:spPr>
          <a:xfrm>
            <a:off x="548640" y="868680"/>
            <a:ext cx="10515600" cy="822960"/>
          </a:xfrm>
          <a:prstGeom prst="rect">
            <a:avLst/>
          </a:prstGeom>
          <a:noFill/>
        </p:spPr>
        <p:txBody>
          <a:bodyPr wrap="square" anchor="t">
            <a:spAutoFit/>
          </a:bodyPr>
          <a:lstStyle/>
          <a:p>
            <a:pPr algn="l">
              <a:lnSpc>
                <a:spcPct val="100000"/>
              </a:lnSpc>
            </a:pPr>
            <a:r>
              <a:rPr sz="3400" b="1" i="0">
                <a:solidFill>
                  <a:srgbClr val="1F3350"/>
                </a:solidFill>
                <a:latin typeface="Georgia"/>
              </a:rPr>
              <a:t>Breaking Down the Prototype</a:t>
            </a:r>
          </a:p>
        </p:txBody>
      </p:sp>
      <p:sp>
        <p:nvSpPr>
          <p:cNvPr id="6" name="TextBox 5"/>
          <p:cNvSpPr txBox="1"/>
          <p:nvPr/>
        </p:nvSpPr>
        <p:spPr>
          <a:xfrm>
            <a:off x="548640" y="1828800"/>
            <a:ext cx="8961120" cy="3200400"/>
          </a:xfrm>
          <a:prstGeom prst="rect">
            <a:avLst/>
          </a:prstGeom>
          <a:noFill/>
        </p:spPr>
        <p:txBody>
          <a:bodyPr wrap="square" anchor="t">
            <a:spAutoFit/>
          </a:bodyPr>
          <a:lstStyle/>
          <a:p>
            <a:pPr algn="l">
              <a:lnSpc>
                <a:spcPct val="125000"/>
              </a:lnSpc>
            </a:pPr>
            <a:r>
              <a:rPr sz="1800" b="0" i="0">
                <a:solidFill>
                  <a:srgbClr val="2A384A"/>
                </a:solidFill>
                <a:latin typeface="Georgia"/>
              </a:rPr>
              <a:t>Separating a prototype's purpose into Role, Look and Feel, and Implementation allows a designer to test one open design question at a time, without the cost of resolving the other two. This decomposition simplifies the prototyping process and brings clarity to what a given prototype is, and is not, intended to demonstrate.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82840"/>
        </a:solidFill>
        <a:effectLst/>
      </p:bgPr>
    </p:bg>
    <p:spTree>
      <p:nvGrpSpPr>
        <p:cNvPr id="1" name=""/>
        <p:cNvGrpSpPr/>
        <p:nvPr/>
      </p:nvGrpSpPr>
      <p:grpSpPr/>
      <p:sp>
        <p:nvSpPr>
          <p:cNvPr id="2" name="TextBox 1"/>
          <p:cNvSpPr txBox="1"/>
          <p:nvPr/>
        </p:nvSpPr>
        <p:spPr>
          <a:xfrm>
            <a:off x="822960" y="2834640"/>
            <a:ext cx="10515600" cy="1280160"/>
          </a:xfrm>
          <a:prstGeom prst="rect">
            <a:avLst/>
          </a:prstGeom>
          <a:noFill/>
        </p:spPr>
        <p:txBody>
          <a:bodyPr wrap="square" anchor="t">
            <a:spAutoFit/>
          </a:bodyPr>
          <a:lstStyle/>
          <a:p>
            <a:pPr algn="l">
              <a:lnSpc>
                <a:spcPct val="100000"/>
              </a:lnSpc>
            </a:pPr>
            <a:r>
              <a:rPr sz="4000" b="0" i="0">
                <a:solidFill>
                  <a:srgbClr val="F2EDE2"/>
                </a:solidFill>
                <a:latin typeface="Georgia"/>
              </a:rPr>
              <a:t>Summary</a:t>
            </a:r>
          </a:p>
        </p:txBody>
      </p:sp>
      <p:sp>
        <p:nvSpPr>
          <p:cNvPr id="3" name="TextBox 2"/>
          <p:cNvSpPr txBox="1"/>
          <p:nvPr/>
        </p:nvSpPr>
        <p:spPr>
          <a:xfrm>
            <a:off x="822960" y="3840480"/>
            <a:ext cx="9601200" cy="914400"/>
          </a:xfrm>
          <a:prstGeom prst="rect">
            <a:avLst/>
          </a:prstGeom>
          <a:noFill/>
        </p:spPr>
        <p:txBody>
          <a:bodyPr wrap="square" anchor="t">
            <a:spAutoFit/>
          </a:bodyPr>
          <a:lstStyle/>
          <a:p>
            <a:pPr algn="l">
              <a:lnSpc>
                <a:spcPct val="100000"/>
              </a:lnSpc>
            </a:pPr>
            <a:r>
              <a:rPr sz="1600" b="0" i="1">
                <a:solidFill>
                  <a:srgbClr val="C9DCE9"/>
                </a:solidFill>
                <a:latin typeface="Georgia"/>
              </a:rPr>
              <a:t>Principles of interaction, principles of TUI, and methods for prototyping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8503920" y="320040"/>
            <a:ext cx="3200400" cy="320040"/>
          </a:xfrm>
          <a:prstGeom prst="rect">
            <a:avLst/>
          </a:prstGeom>
          <a:noFill/>
        </p:spPr>
        <p:txBody>
          <a:bodyPr wrap="square" anchor="t">
            <a:spAutoFit/>
          </a:bodyPr>
          <a:lstStyle/>
          <a:p>
            <a:pPr algn="r">
              <a:lnSpc>
                <a:spcPct val="100000"/>
              </a:lnSpc>
            </a:pPr>
            <a:r>
              <a:rPr sz="1200" b="0" i="0">
                <a:solidFill>
                  <a:srgbClr val="1F3350"/>
                </a:solidFill>
                <a:latin typeface="Helvetica Neue"/>
              </a:rPr>
              <a:t>SUMMARY</a:t>
            </a:r>
          </a:p>
        </p:txBody>
      </p:sp>
      <p:cxnSp>
        <p:nvCxnSpPr>
          <p:cNvPr id="3" name="Connector 2"/>
          <p:cNvCxnSpPr/>
          <p:nvPr/>
        </p:nvCxnSpPr>
        <p:spPr>
          <a:xfrm>
            <a:off x="548640" y="749808"/>
            <a:ext cx="11091672" cy="0"/>
          </a:xfrm>
          <a:prstGeom prst="line">
            <a:avLst/>
          </a:prstGeom>
          <a:ln w="9525">
            <a:solidFill>
              <a:srgbClr val="1F33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868680"/>
            <a:ext cx="9601200" cy="822960"/>
          </a:xfrm>
          <a:prstGeom prst="rect">
            <a:avLst/>
          </a:prstGeom>
          <a:noFill/>
        </p:spPr>
        <p:txBody>
          <a:bodyPr wrap="square" anchor="t">
            <a:spAutoFit/>
          </a:bodyPr>
          <a:lstStyle/>
          <a:p>
            <a:pPr algn="l">
              <a:lnSpc>
                <a:spcPct val="100000"/>
              </a:lnSpc>
            </a:pPr>
            <a:r>
              <a:rPr sz="3000" b="1" i="0">
                <a:solidFill>
                  <a:srgbClr val="1F3350"/>
                </a:solidFill>
                <a:latin typeface="Georgia"/>
              </a:rPr>
              <a:t>What This Deck Covered</a:t>
            </a:r>
          </a:p>
        </p:txBody>
      </p:sp>
      <p:sp>
        <p:nvSpPr>
          <p:cNvPr id="5" name="Rectangle 4"/>
          <p:cNvSpPr/>
          <p:nvPr/>
        </p:nvSpPr>
        <p:spPr>
          <a:xfrm>
            <a:off x="54864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44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FOUNDATIONS</a:t>
            </a:r>
          </a:p>
        </p:txBody>
      </p:sp>
      <p:sp>
        <p:nvSpPr>
          <p:cNvPr id="7" name="TextBox 6"/>
          <p:cNvSpPr txBox="1"/>
          <p:nvPr/>
        </p:nvSpPr>
        <p:spPr>
          <a:xfrm>
            <a:off x="72644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Definitions of tangible user interfaces, their historical origin in Tangible Bits, and their relationship to Zero UI.</a:t>
            </a:r>
          </a:p>
        </p:txBody>
      </p:sp>
      <p:sp>
        <p:nvSpPr>
          <p:cNvPr id="8" name="Rectangle 7"/>
          <p:cNvSpPr/>
          <p:nvPr/>
        </p:nvSpPr>
        <p:spPr>
          <a:xfrm>
            <a:off x="408432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212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PRINCIPLES</a:t>
            </a:r>
          </a:p>
        </p:txBody>
      </p:sp>
      <p:sp>
        <p:nvSpPr>
          <p:cNvPr id="10" name="TextBox 9"/>
          <p:cNvSpPr txBox="1"/>
          <p:nvPr/>
        </p:nvSpPr>
        <p:spPr>
          <a:xfrm>
            <a:off x="426212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Norman's six general interaction principles, and three principles specific to tangible interaction.</a:t>
            </a:r>
          </a:p>
        </p:txBody>
      </p:sp>
      <p:sp>
        <p:nvSpPr>
          <p:cNvPr id="11" name="Rectangle 10"/>
          <p:cNvSpPr/>
          <p:nvPr/>
        </p:nvSpPr>
        <p:spPr>
          <a:xfrm>
            <a:off x="7620000" y="2011680"/>
            <a:ext cx="38100" cy="3291840"/>
          </a:xfrm>
          <a:prstGeom prst="rect">
            <a:avLst/>
          </a:prstGeom>
          <a:solidFill>
            <a:srgbClr val="1F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7800" y="2011680"/>
            <a:ext cx="3230880" cy="457200"/>
          </a:xfrm>
          <a:prstGeom prst="rect">
            <a:avLst/>
          </a:prstGeom>
          <a:noFill/>
        </p:spPr>
        <p:txBody>
          <a:bodyPr wrap="square" anchor="t">
            <a:spAutoFit/>
          </a:bodyPr>
          <a:lstStyle/>
          <a:p>
            <a:pPr algn="l">
              <a:lnSpc>
                <a:spcPct val="100000"/>
              </a:lnSpc>
            </a:pPr>
            <a:r>
              <a:rPr sz="1500" b="1" i="0">
                <a:solidFill>
                  <a:srgbClr val="1F3350"/>
                </a:solidFill>
                <a:latin typeface="Helvetica Neue"/>
              </a:rPr>
              <a:t>METHODS</a:t>
            </a:r>
          </a:p>
        </p:txBody>
      </p:sp>
      <p:sp>
        <p:nvSpPr>
          <p:cNvPr id="13" name="TextBox 12"/>
          <p:cNvSpPr txBox="1"/>
          <p:nvPr/>
        </p:nvSpPr>
        <p:spPr>
          <a:xfrm>
            <a:off x="7797800" y="2514600"/>
            <a:ext cx="3230880" cy="2743200"/>
          </a:xfrm>
          <a:prstGeom prst="rect">
            <a:avLst/>
          </a:prstGeom>
          <a:noFill/>
        </p:spPr>
        <p:txBody>
          <a:bodyPr wrap="square" anchor="t">
            <a:spAutoFit/>
          </a:bodyPr>
          <a:lstStyle/>
          <a:p>
            <a:pPr algn="l">
              <a:lnSpc>
                <a:spcPct val="120000"/>
              </a:lnSpc>
            </a:pPr>
            <a:r>
              <a:rPr sz="1350" b="0" i="0">
                <a:solidFill>
                  <a:srgbClr val="2A384A"/>
                </a:solidFill>
                <a:latin typeface="Georgia"/>
              </a:rPr>
              <a:t>Houde and Hill's Triangle as a framework for deciding what a prototype is built to demonstrate.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